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50" d="100"/>
          <a:sy n="150" d="100"/>
        </p:scale>
        <p:origin x="654"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49BEC6-1619-4C7D-9A7E-01BE45B47745}" type="datetimeFigureOut">
              <a:rPr lang="en-CA" smtClean="0"/>
              <a:t>2026-06-02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0D1712-D0A6-48B5-8294-575D964C960D}" type="slidenum">
              <a:rPr lang="en-CA" smtClean="0"/>
              <a:t>‹#›</a:t>
            </a:fld>
            <a:endParaRPr lang="en-CA"/>
          </a:p>
        </p:txBody>
      </p:sp>
    </p:spTree>
    <p:extLst>
      <p:ext uri="{BB962C8B-B14F-4D97-AF65-F5344CB8AC3E}">
        <p14:creationId xmlns:p14="http://schemas.microsoft.com/office/powerpoint/2010/main" val="1098005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Environ 8 heures avec pauses et dîner. Les modules 4 et 6 sont les pièces maîtresses — protégez leur temps. Chaque module associe des diapositives à une démo ou un atelier.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Ces six objectifs forment la colonne vertébrale de la journée. Relisez-les à chaque transition de module pour montrer le fil conducteur.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Demandez un vote à main levée par persona. Adaptez l'accent : les architectes aiment la stratégie, les développeurs Copilot et l'instrumentation, l'exploitation la mise à l'échelle et Application Insights.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Présentez les compétences comme des capacités, pas des certifications. Chaque capacité correspond à une activité pratique de la journée.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C'est le livrable que beaucoup de commanditaires attendent. Invitez les participants à repartir avec un brouillon pour leur propre organisation.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Positionnez l'atelier lui-même comme un Défi Cloud : en fin de journée, chaque persona repart avec quelque chose qu'il a construit.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Contrastez avec le modèle hérité de tickets et de transferts. Tout ce que nous faisons aujourd'hui est reproductible et observable.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Désamorcez la peur que modernisation = réécriture complète. L'essentiel de la valeur vient du rehost/replatform plus des refactorisations ciblées.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Faites nommer par la salle le facteur le plus criant. Vous le relierez à une capacité App Service ou App Insights.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Dimensionnez la plateforme selon l'équipe. Nous avons choisi App Service pour MAPAQ : simplicité PaaS, souplesse des conteneurs, mise à l'échelle et diagnostics intégrés.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MAPAQ aujourd'hui = Replatform + Refactor ciblé : .NET 10 conteneurisé sur App Service, SQL Entra-only, instrumentation moderne. De gauche à droite : l'effort et la valeur augmentent.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La décision est itérative et non linéaire : on peut rehoster d'abord, refactoriser ensuite. Aujourd'hui MAPAQ est notre application de preuve.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C'est exactement ce qui est déployé dans rg-dev-001 : deux conteneurs .NET sur App Service (P1v3), Azure SQL Entra-only derrière un point de terminaison privé, une ressource Application Insights basée sur un espace de travail.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Positionnez l'IA comme un multiplicateur de force, pas un remplacement. L'agent de modernisation montré ensuite fait le travail lourd et répétitif.</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Ouvrez VS Code et montrez le panneau de chat Copilot. Confirmez la présence de C# Dev Kit et de l'extension de modernisation.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C'est l'outillage GitHub Copilot app modernization - upgrade pour .NET. Il pilote la mise à niveau de bout en bout pendant que vous révisez. Il travaille tâche par tâche, pas d'un seul bloc risqué.</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Insistez sur la boucle : appliquer → compiler → tester → corriger. L'agent itère jusqu'à ce que le projet compile et que les tests passent, puis passe au projet suivant dans l'ordre topologique.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Exécutez l'agent sur un projet hérité. Narrez chaque tâche. Arrêtez-vous sur une correction de changement cassant et son explication. Gardez le tableau de bord visible.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L'environnement rg-dev-001 a été déployé ainsi depuis le pipeline. Premier run ~6–8 min. Les sorties incluent la chaîne de connexion App Insights.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Ouvrez infra/ dans VS Code. Rappelez : chaque ressource de rg-dev-001 vient de ces fichiers — reproductible et révisable.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Ce sont les vraies ressources. Utilisez le script PowerShell paramétré (scripts/open-monitoring-dashboard.ps1) pour sauter directement au tableau de bord en direct.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Ouvrez l'app mapaq-web dans le portail. Donnez une orientation de 60 secondes avant de plonger dans chaque section.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Ce sont les vrais paramètres de production de mapaq-web. Expliquez chaque choix de durcissement.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POINT DE RÉCONCILIATION IMPORTANT : l'app en direct utilise l'IDENTITÉ GÉRÉE pour l'ingestion App Insights (la paire AUTHENTICATION_STRING + AZURE_CLIENT_ID), et les clés à double souligné mappent vers les sections de config .NET. Les espaces réservés du appsettings.json du dépôt sont vides à dessein — les vraies valeurs sont injectées ici par le pipeline. Montrez l'onglet Variables d'environnement en direct.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rg-dev-001 est l'environnement dev. Expliquez comment les mêmes Bicep + azd promeuvent vers test/prod en changeant l'environnement. Mentionnez la permutation d'emplacement pour des livraisons sûres.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Ouvrez Centre de déploiement → paramètres de conteneur. Montrez que l'étiquette d'image est un SHA git. Voilà l'histoire « avec conteneurs » : construire une fois, promouvoir l'artefact.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Ouvrez le Flux de journaux, puis frappez l'URL de l'app et regardez défiler les requêtes. Contrastez le flux éphémère avec la télémétrie durable dans App Insights.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Ouvrez Scale up (plan App Service). Montrez la grille de niveaux. Insistez : monter en gamme change la taille de chaque instance — c'est au niveau du plan et affecte toutes les apps du plan.</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Ouvrez Scale out. Montrez d'abord le nombre manuel, puis basculez vers Auto-scale personnalisé pour la diapositive suivante. Les apps MAPAQ sont sans état, donc elles montent en toute sécurité.</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Créez une règle d'augmentation (CPU &gt; 70 % → +1) et une règle de réduction (CPU &lt; 30 % → -1). Fixez min/max d'instances et un délai de refroidissement. Les limites par défaut protègent le coût et la stabilité. Optionnel : lancez le script de test de charge pour déclencher la règle.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Liste de contrôle DÉMO. Exécutez scripts/start-local.ps1 au préalable si vous voulez comparer en local. Puis parcourez le portail de haut en bas dans cet ordre.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Montrez Program.cs dans Mapaq.Web. La magie est la propagation, deux diapositives plus loin.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L'instrumentation EF Core → SqlClient est livrée avec le SDK; aucun paquet additionnel. Voilà comment le span SQL apparaît dans la cascade.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Ouvrez les outils de dev → Réseau → une requête → En-têtes, et montrez le vrai traceparent. C'est le fil qui relie toute l'histoire.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L'ancre visuelle de l'atelier. Un operation_Id à travers quatre niveaux devient une seule transaction dans App Insights.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Le snippet doit se charger avant tout script qui émet fetch/XHR, sinon les premières pages vues sont perdues.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L'échantillonnage se règle sur l'objet d'options du SDK, par app — pas dans le portail.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C'est une heure complète. Gardez l'app en direct générant du trafic pour que chaque panneau ait des données. Utilisez le script d'ouverture du tableau de bord pour naviguer vite.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Ouvrez Live Metrics et demandez à la salle de charger la page. Regardez les taux de requêtes et dépendances bondir. Filtrez sur le rôle API.</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Trouvez une requête récente, ouvrez la transaction et parcourez la cascade de haut en bas. C'est ici que l'histoire de traceparent paie visuellement.</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La carte d'application découvre la topologie depuis la télémétrie — sans config. Cliquez un nœud pour voir performance et échecs de ce composant.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Si possible, forcez un 5xx (arrêtez l'API ou frappez une mauvaise route) et regardez Échecs s'allumer, puis plongez dans l'exception.</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Exécutez la requête de la diapositive suivante. L'union entre tables est l'astuce que les débutants manquent.</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Récupérez l'operation_Id depuis le traceparent dans les outils de dev ou la Recherche de transactions, collez-le et exécutez. Sauvegardez la requête dans le classeur.</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Ouvrez le classeur, changez la plage de temps et le paramètre de rôle, et montrez la mise à jour des visuels. Mentionnez qu'ils sont versionnables en JSON.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Montrez l'intégration d'éléments de travail sur la ressource App Insights, puis créez un bug depuis un vrai échec. Soulignez comment le contexte de télémétrie arrive sur l'élément pour qu'un développeur le reproduise.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Émettez un journal structuré en local et observez-le dans la console, puis retrouvez la même entrée dans les traces App Insights filtrées par operation_Id. Voilà l'histoire de la journalisation locale et distante.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 Montrez les paramètres de Smart Detection et créez une alerte de métrique (ex. requêtes en échec &gt; N sur 5 min) reliée à un groupe d'actions.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Liste de contrôle maîtresse pour l'heure. Gardez le trafic actif tout du long. Utilisez scripts/open-monitoring-dashboard.ps1 pour sauter à la ressource.</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Reliez le coût aux leviers de mise à l'échelle et d'échantillonnage vus plus tôt. Le plafond quotidien protège l'abonnement.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Gardez cette diapositive visible pendant les ateliers. La plupart des questions correspondent à une de ces lignes. La ligne identité est spécifique à la configuration de rg-dev-001.</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Démontrez toujours le démantèlement en direct. Un atelier sans démantèlement est une bombe de facturation. (À sauter sur rg-dev-001 partagé s'il doit persister.)</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Renvoyez la salle avec un engagement concret chacun. Offrez les ateliers et le wiki comme chemin de suite.</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Toutes les pages MS Learn ont le sélecteur de langue FR/EN en haut à droite.</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400" b="0">
                <a:solidFill>
                  <a:srgbClr val="E5E7EB"/>
                </a:solidFill>
                <a:latin typeface="Segoe UI"/>
              </a:defRPr>
            </a:pPr>
            <a:r>
              <a:rPr sz="1400" b="0">
                <a:solidFill>
                  <a:srgbClr val="E5E7EB"/>
                </a:solidFill>
                <a:latin typeface="Segoe UI"/>
              </a:rPr>
              <a:t>Clôturez dans les deux langues. Renvoyez la salle aux questions et au wiki pour le guide de livraison complet.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247140"/>
            <a:ext cx="10698480" cy="1463040"/>
          </a:xfrm>
          <a:prstGeom prst="rect">
            <a:avLst/>
          </a:prstGeom>
          <a:noFill/>
        </p:spPr>
        <p:txBody>
          <a:bodyPr wrap="square">
            <a:spAutoFit/>
          </a:bodyPr>
          <a:lstStyle/>
          <a:p>
            <a:pPr>
              <a:defRPr sz="4400" b="1">
                <a:solidFill>
                  <a:srgbClr val="3B82F6"/>
                </a:solidFill>
                <a:latin typeface="Segoe UI"/>
              </a:defRPr>
            </a:pPr>
            <a:r>
              <a:rPr sz="4400" b="1" dirty="0" err="1">
                <a:solidFill>
                  <a:srgbClr val="3B82F6"/>
                </a:solidFill>
                <a:latin typeface="Segoe UI"/>
              </a:rPr>
              <a:t>Moderniser</a:t>
            </a:r>
            <a:r>
              <a:rPr sz="4400" b="1" dirty="0">
                <a:solidFill>
                  <a:srgbClr val="3B82F6"/>
                </a:solidFill>
                <a:latin typeface="Segoe UI"/>
              </a:rPr>
              <a:t> les applications </a:t>
            </a:r>
            <a:r>
              <a:rPr sz="4400" b="1" dirty="0" err="1">
                <a:solidFill>
                  <a:srgbClr val="3B82F6"/>
                </a:solidFill>
                <a:latin typeface="Segoe UI"/>
              </a:rPr>
              <a:t>d'entreprise</a:t>
            </a:r>
            <a:r>
              <a:rPr sz="4400" b="1" dirty="0">
                <a:solidFill>
                  <a:srgbClr val="3B82F6"/>
                </a:solidFill>
                <a:latin typeface="Segoe UI"/>
              </a:rPr>
              <a:t> avec les </a:t>
            </a:r>
            <a:r>
              <a:rPr sz="4400" b="1" dirty="0" err="1">
                <a:solidFill>
                  <a:srgbClr val="3B82F6"/>
                </a:solidFill>
                <a:latin typeface="Segoe UI"/>
              </a:rPr>
              <a:t>plateformes</a:t>
            </a:r>
            <a:r>
              <a:rPr sz="4400" b="1" dirty="0">
                <a:solidFill>
                  <a:srgbClr val="3B82F6"/>
                </a:solidFill>
                <a:latin typeface="Segoe UI"/>
              </a:rPr>
              <a:t> </a:t>
            </a:r>
            <a:r>
              <a:rPr sz="4400" b="1" dirty="0" err="1">
                <a:solidFill>
                  <a:srgbClr val="3B82F6"/>
                </a:solidFill>
                <a:latin typeface="Segoe UI"/>
              </a:rPr>
              <a:t>applicatives</a:t>
            </a:r>
            <a:endParaRPr sz="4400" b="1" dirty="0">
              <a:solidFill>
                <a:srgbClr val="3B82F6"/>
              </a:solidFill>
              <a:latin typeface="Segoe UI"/>
            </a:endParaRPr>
          </a:p>
        </p:txBody>
      </p:sp>
      <p:sp>
        <p:nvSpPr>
          <p:cNvPr id="4" name="TextBox 3"/>
          <p:cNvSpPr txBox="1"/>
          <p:nvPr/>
        </p:nvSpPr>
        <p:spPr>
          <a:xfrm>
            <a:off x="731520" y="3840480"/>
            <a:ext cx="10698480" cy="1828800"/>
          </a:xfrm>
          <a:prstGeom prst="rect">
            <a:avLst/>
          </a:prstGeom>
          <a:noFill/>
        </p:spPr>
        <p:txBody>
          <a:bodyPr wrap="square">
            <a:spAutoFit/>
          </a:bodyPr>
          <a:lstStyle/>
          <a:p>
            <a:pPr>
              <a:defRPr sz="2200" b="0">
                <a:solidFill>
                  <a:srgbClr val="94A3B8"/>
                </a:solidFill>
                <a:latin typeface="Segoe UI"/>
              </a:defRPr>
            </a:pPr>
            <a:r>
              <a:rPr sz="2200" b="0">
                <a:solidFill>
                  <a:srgbClr val="94A3B8"/>
                </a:solidFill>
                <a:latin typeface="Segoe UI"/>
              </a:rPr>
              <a:t>Atelier pratique d'une journée — App Service, conteneurs, low-code + IA, agent de modernisation .NET GitHub Copilot et observabilité avec Application Insights</a:t>
            </a:r>
          </a:p>
        </p:txBody>
      </p:sp>
      <p:sp>
        <p:nvSpPr>
          <p:cNvPr id="5" name="TextBox 4"/>
          <p:cNvSpPr txBox="1"/>
          <p:nvPr/>
        </p:nvSpPr>
        <p:spPr>
          <a:xfrm>
            <a:off x="731520" y="5852160"/>
            <a:ext cx="10698480" cy="548640"/>
          </a:xfrm>
          <a:prstGeom prst="rect">
            <a:avLst/>
          </a:prstGeom>
          <a:noFill/>
        </p:spPr>
        <p:txBody>
          <a:bodyPr wrap="none">
            <a:spAutoFit/>
          </a:bodyPr>
          <a:lstStyle/>
          <a:p>
            <a:pPr>
              <a:defRPr sz="1400" b="0">
                <a:solidFill>
                  <a:srgbClr val="16A340"/>
                </a:solidFill>
                <a:latin typeface="Segoe UI"/>
              </a:defRPr>
            </a:pPr>
            <a:r>
              <a:rPr sz="1400" b="0">
                <a:solidFill>
                  <a:srgbClr val="16A340"/>
                </a:solidFill>
                <a:latin typeface="Segoe UI"/>
              </a:rPr>
              <a:t>Microsoft Canada · Atelier de modernisation MAPAQ</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Ordre du jour — une journée, huit blocs</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0 · Accueil, objectifs et personas (30 min)</a:t>
            </a:r>
          </a:p>
          <a:p>
            <a:pPr>
              <a:defRPr sz="1800" b="0">
                <a:solidFill>
                  <a:srgbClr val="E5E7EB"/>
                </a:solidFill>
                <a:latin typeface="Segoe UI"/>
              </a:defRPr>
            </a:pPr>
            <a:r>
              <a:rPr sz="1800" b="0">
                <a:solidFill>
                  <a:srgbClr val="E5E7EB"/>
                </a:solidFill>
                <a:latin typeface="Segoe UI"/>
              </a:rPr>
              <a:t>• 1 · Compréhension commune de la modernisation (45 min)</a:t>
            </a:r>
          </a:p>
          <a:p>
            <a:pPr>
              <a:defRPr sz="1800" b="0">
                <a:solidFill>
                  <a:srgbClr val="E5E7EB"/>
                </a:solidFill>
                <a:latin typeface="Segoe UI"/>
              </a:defRPr>
            </a:pPr>
            <a:r>
              <a:rPr sz="1800" b="0">
                <a:solidFill>
                  <a:srgbClr val="E5E7EB"/>
                </a:solidFill>
                <a:latin typeface="Segoe UI"/>
              </a:rPr>
              <a:t>• 2 · Stratégie et décisions de modernisation (45 min)</a:t>
            </a:r>
          </a:p>
          <a:p>
            <a:pPr>
              <a:defRPr sz="1800" b="0">
                <a:solidFill>
                  <a:srgbClr val="E5E7EB"/>
                </a:solidFill>
                <a:latin typeface="Segoe UI"/>
              </a:defRPr>
            </a:pPr>
            <a:r>
              <a:rPr sz="1800" b="0">
                <a:solidFill>
                  <a:srgbClr val="E5E7EB"/>
                </a:solidFill>
                <a:latin typeface="Segoe UI"/>
              </a:rPr>
              <a:t>• 3 · Accélérer avec le low-code + l'IA · agent .NET Copilot (60 min)</a:t>
            </a:r>
          </a:p>
          <a:p>
            <a:pPr>
              <a:defRPr sz="1800" b="0">
                <a:solidFill>
                  <a:srgbClr val="E5E7EB"/>
                </a:solidFill>
                <a:latin typeface="Segoe UI"/>
              </a:defRPr>
            </a:pPr>
            <a:r>
              <a:rPr sz="1800" b="0">
                <a:solidFill>
                  <a:srgbClr val="E5E7EB"/>
                </a:solidFill>
                <a:latin typeface="Segoe UI"/>
              </a:rPr>
              <a:t>• 4 · Provisionnement et exploration du panneau App Service (75 min)</a:t>
            </a:r>
          </a:p>
          <a:p>
            <a:pPr>
              <a:defRPr sz="1800" b="0">
                <a:solidFill>
                  <a:srgbClr val="E5E7EB"/>
                </a:solidFill>
                <a:latin typeface="Segoe UI"/>
              </a:defRPr>
            </a:pPr>
            <a:r>
              <a:rPr sz="1800" b="0">
                <a:solidFill>
                  <a:srgbClr val="E5E7EB"/>
                </a:solidFill>
                <a:latin typeface="Segoe UI"/>
              </a:rPr>
              <a:t>• 5 · Instrumentation : navigateur → web → API → SQL (60 min)</a:t>
            </a:r>
          </a:p>
          <a:p>
            <a:pPr>
              <a:defRPr sz="1800" b="0">
                <a:solidFill>
                  <a:srgbClr val="E5E7EB"/>
                </a:solidFill>
                <a:latin typeface="Segoe UI"/>
              </a:defRPr>
            </a:pPr>
            <a:r>
              <a:rPr sz="1800" b="0">
                <a:solidFill>
                  <a:srgbClr val="E5E7EB"/>
                </a:solidFill>
                <a:latin typeface="Segoe UI"/>
              </a:rPr>
              <a:t>• 6 · Application Insights — l'heure d'approfondissement (60 min)</a:t>
            </a:r>
          </a:p>
          <a:p>
            <a:pPr>
              <a:defRPr sz="1800" b="0">
                <a:solidFill>
                  <a:srgbClr val="E5E7EB"/>
                </a:solidFill>
                <a:latin typeface="Segoe UI"/>
              </a:defRPr>
            </a:pPr>
            <a:r>
              <a:rPr sz="1800" b="0">
                <a:solidFill>
                  <a:srgbClr val="E5E7EB"/>
                </a:solidFill>
                <a:latin typeface="Segoe UI"/>
              </a:rPr>
              <a:t>• 7 · Coûts, alertes, démantèlement et prochaines étapes (45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Ce que vous saurez faire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Identifier et définir les compétences numériques nécessaires à la transformation</a:t>
            </a:r>
          </a:p>
          <a:p>
            <a:pPr>
              <a:defRPr sz="1800" b="0">
                <a:solidFill>
                  <a:srgbClr val="E5E7EB"/>
                </a:solidFill>
                <a:latin typeface="Segoe UI"/>
              </a:defRPr>
            </a:pPr>
            <a:r>
              <a:rPr sz="1800" b="0">
                <a:solidFill>
                  <a:srgbClr val="E5E7EB"/>
                </a:solidFill>
                <a:latin typeface="Segoe UI"/>
              </a:rPr>
              <a:t>• Bâtir un plan de montée en compétences par persona client</a:t>
            </a:r>
          </a:p>
          <a:p>
            <a:pPr>
              <a:defRPr sz="1800" b="0">
                <a:solidFill>
                  <a:srgbClr val="E5E7EB"/>
                </a:solidFill>
                <a:latin typeface="Segoe UI"/>
              </a:defRPr>
            </a:pPr>
            <a:r>
              <a:rPr sz="1800" b="0">
                <a:solidFill>
                  <a:srgbClr val="E5E7EB"/>
                </a:solidFill>
                <a:latin typeface="Segoe UI"/>
              </a:rPr>
              <a:t>• Habiliter les rôles clés à relever les Défis Cloud par de nouvelles façons de travailler</a:t>
            </a:r>
          </a:p>
          <a:p>
            <a:pPr>
              <a:defRPr sz="1800" b="0">
                <a:solidFill>
                  <a:srgbClr val="E5E7EB"/>
                </a:solidFill>
                <a:latin typeface="Segoe UI"/>
              </a:defRPr>
            </a:pPr>
            <a:r>
              <a:rPr sz="1800" b="0">
                <a:solidFill>
                  <a:srgbClr val="E5E7EB"/>
                </a:solidFill>
                <a:latin typeface="Segoe UI"/>
              </a:rPr>
              <a:t>• Partager un langage commun de la modernisation applicative</a:t>
            </a:r>
          </a:p>
          <a:p>
            <a:pPr>
              <a:defRPr sz="1800" b="0">
                <a:solidFill>
                  <a:srgbClr val="E5E7EB"/>
                </a:solidFill>
                <a:latin typeface="Segoe UI"/>
              </a:defRPr>
            </a:pPr>
            <a:r>
              <a:rPr sz="1800" b="0">
                <a:solidFill>
                  <a:srgbClr val="E5E7EB"/>
                </a:solidFill>
                <a:latin typeface="Segoe UI"/>
              </a:rPr>
              <a:t>• Prendre une décision de stratégie de modernisation éclairée</a:t>
            </a:r>
          </a:p>
          <a:p>
            <a:pPr>
              <a:defRPr sz="1800" b="0">
                <a:solidFill>
                  <a:srgbClr val="E5E7EB"/>
                </a:solidFill>
                <a:latin typeface="Segoe UI"/>
              </a:defRPr>
            </a:pPr>
            <a:r>
              <a:rPr sz="1800" b="0">
                <a:solidFill>
                  <a:srgbClr val="E5E7EB"/>
                </a:solidFill>
                <a:latin typeface="Segoe UI"/>
              </a:rPr>
              <a:t>• Accélérer la livraison grâce au low-code et à l'IA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Qui est dans la salle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Décideurs métier et TI — financent et priorisent</a:t>
            </a:r>
          </a:p>
          <a:p>
            <a:pPr>
              <a:defRPr sz="1800" b="0">
                <a:solidFill>
                  <a:srgbClr val="E5E7EB"/>
                </a:solidFill>
                <a:latin typeface="Segoe UI"/>
              </a:defRPr>
            </a:pPr>
            <a:r>
              <a:rPr sz="1800" b="0">
                <a:solidFill>
                  <a:srgbClr val="E5E7EB"/>
                </a:solidFill>
                <a:latin typeface="Segoe UI"/>
              </a:rPr>
              <a:t>• Architectes d'entreprise et de solutions — choisissent la plateforme cible</a:t>
            </a:r>
          </a:p>
          <a:p>
            <a:pPr>
              <a:defRPr sz="1800" b="0">
                <a:solidFill>
                  <a:srgbClr val="E5E7EB"/>
                </a:solidFill>
                <a:latin typeface="Segoe UI"/>
              </a:defRPr>
            </a:pPr>
            <a:r>
              <a:rPr sz="1800" b="0">
                <a:solidFill>
                  <a:srgbClr val="E5E7EB"/>
                </a:solidFill>
                <a:latin typeface="Segoe UI"/>
              </a:rPr>
              <a:t>• Développeurs et ingénieurs DevOps — construisent et livrent</a:t>
            </a:r>
          </a:p>
          <a:p>
            <a:pPr>
              <a:defRPr sz="1800" b="0">
                <a:solidFill>
                  <a:srgbClr val="E5E7EB"/>
                </a:solidFill>
                <a:latin typeface="Segoe UI"/>
              </a:defRPr>
            </a:pPr>
            <a:r>
              <a:rPr sz="1800" b="0">
                <a:solidFill>
                  <a:srgbClr val="E5E7EB"/>
                </a:solidFill>
                <a:latin typeface="Segoe UI"/>
              </a:rPr>
              <a:t>• Exploitation et SRE — opèrent et observent</a:t>
            </a:r>
          </a:p>
          <a:p>
            <a:pPr>
              <a:defRPr sz="1800" b="0">
                <a:solidFill>
                  <a:srgbClr val="E5E7EB"/>
                </a:solidFill>
                <a:latin typeface="Segoe UI"/>
              </a:defRPr>
            </a:pPr>
            <a:r>
              <a:rPr sz="1800" b="0">
                <a:solidFill>
                  <a:srgbClr val="E5E7EB"/>
                </a:solidFill>
                <a:latin typeface="Segoe UI"/>
              </a:rPr>
              <a:t>• Responsables du changement — développent les compétences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Les compétences numériques de la transformation</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Maîtrise du cloud — IaaS vs PaaS vs conteneurs vs serverless</a:t>
            </a:r>
          </a:p>
          <a:p>
            <a:pPr>
              <a:defRPr sz="1800" b="0">
                <a:solidFill>
                  <a:srgbClr val="E5E7EB"/>
                </a:solidFill>
                <a:latin typeface="Segoe UI"/>
              </a:defRPr>
            </a:pPr>
            <a:r>
              <a:rPr sz="1800" b="0">
                <a:solidFill>
                  <a:srgbClr val="E5E7EB"/>
                </a:solidFill>
                <a:latin typeface="Segoe UI"/>
              </a:rPr>
              <a:t>• .NET moderne — ASP.NET Core, EF Core, API minimales</a:t>
            </a:r>
          </a:p>
          <a:p>
            <a:pPr>
              <a:defRPr sz="1800" b="0">
                <a:solidFill>
                  <a:srgbClr val="E5E7EB"/>
                </a:solidFill>
                <a:latin typeface="Segoe UI"/>
              </a:defRPr>
            </a:pPr>
            <a:r>
              <a:rPr sz="1800" b="0">
                <a:solidFill>
                  <a:srgbClr val="E5E7EB"/>
                </a:solidFill>
                <a:latin typeface="Segoe UI"/>
              </a:rPr>
              <a:t>• Observabilité — télémétrie, traçage, KQL, tableaux de bord</a:t>
            </a:r>
          </a:p>
          <a:p>
            <a:pPr>
              <a:defRPr sz="1800" b="0">
                <a:solidFill>
                  <a:srgbClr val="E5E7EB"/>
                </a:solidFill>
                <a:latin typeface="Segoe UI"/>
              </a:defRPr>
            </a:pPr>
            <a:r>
              <a:rPr sz="1800" b="0">
                <a:solidFill>
                  <a:srgbClr val="E5E7EB"/>
                </a:solidFill>
                <a:latin typeface="Segoe UI"/>
              </a:rPr>
              <a:t>• Automatisation — IaC (Bicep), CI/CD, azd</a:t>
            </a:r>
          </a:p>
          <a:p>
            <a:pPr>
              <a:defRPr sz="1800" b="0">
                <a:solidFill>
                  <a:srgbClr val="E5E7EB"/>
                </a:solidFill>
                <a:latin typeface="Segoe UI"/>
              </a:defRPr>
            </a:pPr>
            <a:r>
              <a:rPr sz="1800" b="0">
                <a:solidFill>
                  <a:srgbClr val="E5E7EB"/>
                </a:solidFill>
                <a:latin typeface="Segoe UI"/>
              </a:rPr>
              <a:t>• Ingénierie assistée par IA — Copilot, agents de modernisation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Un plan de montée en compétences par persona</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Décideurs → valeur, TCO, risque et conformité</a:t>
            </a:r>
          </a:p>
          <a:p>
            <a:pPr>
              <a:defRPr sz="1800" b="0">
                <a:solidFill>
                  <a:srgbClr val="E5E7EB"/>
                </a:solidFill>
                <a:latin typeface="Segoe UI"/>
              </a:defRPr>
            </a:pPr>
            <a:r>
              <a:rPr sz="1800" b="0">
                <a:solidFill>
                  <a:srgbClr val="E5E7EB"/>
                </a:solidFill>
                <a:latin typeface="Segoe UI"/>
              </a:rPr>
              <a:t>• Architectes → choix de plateforme, les 5 R, architectures de référence</a:t>
            </a:r>
          </a:p>
          <a:p>
            <a:pPr>
              <a:defRPr sz="1800" b="0">
                <a:solidFill>
                  <a:srgbClr val="E5E7EB"/>
                </a:solidFill>
                <a:latin typeface="Segoe UI"/>
              </a:defRPr>
            </a:pPr>
            <a:r>
              <a:rPr sz="1800" b="0">
                <a:solidFill>
                  <a:srgbClr val="E5E7EB"/>
                </a:solidFill>
                <a:latin typeface="Segoe UI"/>
              </a:rPr>
              <a:t>• Développeurs → .NET moderne, agent Copilot, instrumentation</a:t>
            </a:r>
          </a:p>
          <a:p>
            <a:pPr>
              <a:defRPr sz="1800" b="0">
                <a:solidFill>
                  <a:srgbClr val="E5E7EB"/>
                </a:solidFill>
                <a:latin typeface="Segoe UI"/>
              </a:defRPr>
            </a:pPr>
            <a:r>
              <a:rPr sz="1800" b="0">
                <a:solidFill>
                  <a:srgbClr val="E5E7EB"/>
                </a:solidFill>
                <a:latin typeface="Segoe UI"/>
              </a:rPr>
              <a:t>• Exploitation / SRE → opérations App Service, mise à l'échelle, App Insights, alertes</a:t>
            </a:r>
          </a:p>
          <a:p>
            <a:pPr>
              <a:defRPr sz="1800" b="0">
                <a:solidFill>
                  <a:srgbClr val="E5E7EB"/>
                </a:solidFill>
                <a:latin typeface="Segoe UI"/>
              </a:defRPr>
            </a:pPr>
            <a:r>
              <a:rPr sz="1800" b="0">
                <a:solidFill>
                  <a:srgbClr val="E5E7EB"/>
                </a:solidFill>
                <a:latin typeface="Segoe UI"/>
              </a:rPr>
              <a:t>• Habilitation → ateliers, présentations, communauté de pratique interne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Habiliter les rôles pour les Défis Cloud</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Défi Cloud = sprint de compétences chronométré sur une charge réelle</a:t>
            </a:r>
          </a:p>
          <a:p>
            <a:pPr>
              <a:defRPr sz="1800" b="0">
                <a:solidFill>
                  <a:srgbClr val="E5E7EB"/>
                </a:solidFill>
                <a:latin typeface="Segoe UI"/>
              </a:defRPr>
            </a:pPr>
            <a:r>
              <a:rPr sz="1800" b="0">
                <a:solidFill>
                  <a:srgbClr val="E5E7EB"/>
                </a:solidFill>
                <a:latin typeface="Segoe UI"/>
              </a:rPr>
              <a:t>• Associez chaque rôle à un livrable concret de l'application du jour</a:t>
            </a:r>
          </a:p>
          <a:p>
            <a:pPr>
              <a:defRPr sz="1800" b="0">
                <a:solidFill>
                  <a:srgbClr val="E5E7EB"/>
                </a:solidFill>
                <a:latin typeface="Segoe UI"/>
              </a:defRPr>
            </a:pPr>
            <a:r>
              <a:rPr sz="1800" b="0">
                <a:solidFill>
                  <a:srgbClr val="E5E7EB"/>
                </a:solidFill>
                <a:latin typeface="Segoe UI"/>
              </a:rPr>
              <a:t>• Les architectes possèdent la cible; les développeurs un module migré</a:t>
            </a:r>
          </a:p>
          <a:p>
            <a:pPr>
              <a:defRPr sz="1800" b="0">
                <a:solidFill>
                  <a:srgbClr val="E5E7EB"/>
                </a:solidFill>
                <a:latin typeface="Segoe UI"/>
              </a:defRPr>
            </a:pPr>
            <a:r>
              <a:rPr sz="1800" b="0">
                <a:solidFill>
                  <a:srgbClr val="E5E7EB"/>
                </a:solidFill>
                <a:latin typeface="Segoe UI"/>
              </a:rPr>
              <a:t>• L'exploitation possède un tableau de bord et une alerte; on apprend en faisant</a:t>
            </a:r>
          </a:p>
          <a:p>
            <a:pPr>
              <a:defRPr sz="1800" b="0">
                <a:solidFill>
                  <a:srgbClr val="E5E7EB"/>
                </a:solidFill>
                <a:latin typeface="Segoe UI"/>
              </a:defRPr>
            </a:pPr>
            <a:r>
              <a:rPr sz="1800" b="0">
                <a:solidFill>
                  <a:srgbClr val="E5E7EB"/>
                </a:solidFill>
                <a:latin typeface="Segoe UI"/>
              </a:rPr>
              <a:t>• Célébrez l'achèvement — l'élan se cumule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De nouvelles façons de travailler</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Infrastructure as code — environnements reproductibles (azd up / azd down)</a:t>
            </a:r>
          </a:p>
          <a:p>
            <a:pPr>
              <a:defRPr sz="1800" b="0">
                <a:solidFill>
                  <a:srgbClr val="E5E7EB"/>
                </a:solidFill>
                <a:latin typeface="Segoe UI"/>
              </a:defRPr>
            </a:pPr>
            <a:r>
              <a:rPr sz="1800" b="0">
                <a:solidFill>
                  <a:srgbClr val="E5E7EB"/>
                </a:solidFill>
                <a:latin typeface="Segoe UI"/>
              </a:rPr>
              <a:t>• Trunk-based, petites PR, vérifications automatisées</a:t>
            </a:r>
          </a:p>
          <a:p>
            <a:pPr>
              <a:defRPr sz="1800" b="0">
                <a:solidFill>
                  <a:srgbClr val="E5E7EB"/>
                </a:solidFill>
                <a:latin typeface="Segoe UI"/>
              </a:defRPr>
            </a:pPr>
            <a:r>
              <a:rPr sz="1800" b="0">
                <a:solidFill>
                  <a:srgbClr val="E5E7EB"/>
                </a:solidFill>
                <a:latin typeface="Segoe UI"/>
              </a:rPr>
              <a:t>• Développement piloté par l'observabilité — instrumenter d'abord, optimiser avec les données</a:t>
            </a:r>
          </a:p>
          <a:p>
            <a:pPr>
              <a:defRPr sz="1800" b="0">
                <a:solidFill>
                  <a:srgbClr val="E5E7EB"/>
                </a:solidFill>
                <a:latin typeface="Segoe UI"/>
              </a:defRPr>
            </a:pPr>
            <a:r>
              <a:rPr sz="1800" b="0">
                <a:solidFill>
                  <a:srgbClr val="E5E7EB"/>
                </a:solidFill>
                <a:latin typeface="Segoe UI"/>
              </a:rPr>
              <a:t>• L'IA dans la boucle — Copilot pour le code, l'agent pour les mises à niveau</a:t>
            </a:r>
          </a:p>
          <a:p>
            <a:pPr>
              <a:defRPr sz="1800" b="0">
                <a:solidFill>
                  <a:srgbClr val="E5E7EB"/>
                </a:solidFill>
                <a:latin typeface="Segoe UI"/>
              </a:defRPr>
            </a:pPr>
            <a:r>
              <a:rPr sz="1800" b="0">
                <a:solidFill>
                  <a:srgbClr val="E5E7EB"/>
                </a:solidFill>
                <a:latin typeface="Segoe UI"/>
              </a:rPr>
              <a:t>• You build it, you run it — dev et exploitation partagent le tableau de bord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Ce que « modernisation » signifie vraiment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Pas une réécriture par défaut — un éventail d'options</a:t>
            </a:r>
          </a:p>
          <a:p>
            <a:pPr>
              <a:defRPr sz="1800" b="0">
                <a:solidFill>
                  <a:srgbClr val="E5E7EB"/>
                </a:solidFill>
                <a:latin typeface="Segoe UI"/>
              </a:defRPr>
            </a:pPr>
            <a:r>
              <a:rPr sz="1800" b="0">
                <a:solidFill>
                  <a:srgbClr val="E5E7EB"/>
                </a:solidFill>
                <a:latin typeface="Segoe UI"/>
              </a:rPr>
              <a:t>• Déplacer la charge vers une plateforme qui élimine le travail sans valeur ajoutée</a:t>
            </a:r>
          </a:p>
          <a:p>
            <a:pPr>
              <a:defRPr sz="1800" b="0">
                <a:solidFill>
                  <a:srgbClr val="E5E7EB"/>
                </a:solidFill>
                <a:latin typeface="Segoe UI"/>
              </a:defRPr>
            </a:pPr>
            <a:r>
              <a:rPr sz="1800" b="0">
                <a:solidFill>
                  <a:srgbClr val="E5E7EB"/>
                </a:solidFill>
                <a:latin typeface="Segoe UI"/>
              </a:rPr>
              <a:t>• Adopter des services gérés pour l'identité, les données et l'observabilité</a:t>
            </a:r>
          </a:p>
          <a:p>
            <a:pPr>
              <a:defRPr sz="1800" b="0">
                <a:solidFill>
                  <a:srgbClr val="E5E7EB"/>
                </a:solidFill>
                <a:latin typeface="Segoe UI"/>
              </a:defRPr>
            </a:pPr>
            <a:r>
              <a:rPr sz="1800" b="0">
                <a:solidFill>
                  <a:srgbClr val="E5E7EB"/>
                </a:solidFill>
                <a:latin typeface="Segoe UI"/>
              </a:rPr>
              <a:t>• Améliorer la vélocité, la fiabilité, la sécurité et le coût</a:t>
            </a:r>
          </a:p>
          <a:p>
            <a:pPr>
              <a:defRPr sz="1800" b="0">
                <a:solidFill>
                  <a:srgbClr val="E5E7EB"/>
                </a:solidFill>
                <a:latin typeface="Segoe UI"/>
              </a:defRPr>
            </a:pPr>
            <a:r>
              <a:rPr sz="1800" b="0">
                <a:solidFill>
                  <a:srgbClr val="E5E7EB"/>
                </a:solidFill>
                <a:latin typeface="Segoe UI"/>
              </a:rPr>
              <a:t>• Le résultat avant le livrable — mesurer l'impact métier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Pourquoi moderniser maintenant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Runtimes et OS en fin de support — risque de sécurité et de conformité</a:t>
            </a:r>
          </a:p>
          <a:p>
            <a:pPr>
              <a:defRPr sz="1800" b="0">
                <a:solidFill>
                  <a:srgbClr val="E5E7EB"/>
                </a:solidFill>
                <a:latin typeface="Segoe UI"/>
              </a:defRPr>
            </a:pPr>
            <a:r>
              <a:rPr sz="1800" b="0">
                <a:solidFill>
                  <a:srgbClr val="E5E7EB"/>
                </a:solidFill>
                <a:latin typeface="Segoe UI"/>
              </a:rPr>
              <a:t>• Livraisons lentes et manuelles — long délai au changement</a:t>
            </a:r>
          </a:p>
          <a:p>
            <a:pPr>
              <a:defRPr sz="1800" b="0">
                <a:solidFill>
                  <a:srgbClr val="E5E7EB"/>
                </a:solidFill>
                <a:latin typeface="Segoe UI"/>
              </a:defRPr>
            </a:pPr>
            <a:r>
              <a:rPr sz="1800" b="0">
                <a:solidFill>
                  <a:srgbClr val="E5E7EB"/>
                </a:solidFill>
                <a:latin typeface="Segoe UI"/>
              </a:rPr>
              <a:t>• Difficultés de mise à l'échelle — verticale seulement, capacité fixe</a:t>
            </a:r>
          </a:p>
          <a:p>
            <a:pPr>
              <a:defRPr sz="1800" b="0">
                <a:solidFill>
                  <a:srgbClr val="E5E7EB"/>
                </a:solidFill>
                <a:latin typeface="Segoe UI"/>
              </a:defRPr>
            </a:pPr>
            <a:r>
              <a:rPr sz="1800" b="0">
                <a:solidFill>
                  <a:srgbClr val="E5E7EB"/>
                </a:solidFill>
                <a:latin typeface="Segoe UI"/>
              </a:rPr>
              <a:t>• Observabilité limitée — délai de détection en heures, pas en secondes</a:t>
            </a:r>
          </a:p>
          <a:p>
            <a:pPr>
              <a:defRPr sz="1800" b="0">
                <a:solidFill>
                  <a:srgbClr val="E5E7EB"/>
                </a:solidFill>
                <a:latin typeface="Segoe UI"/>
              </a:defRPr>
            </a:pPr>
            <a:r>
              <a:rPr sz="1800" b="0">
                <a:solidFill>
                  <a:srgbClr val="E5E7EB"/>
                </a:solidFill>
                <a:latin typeface="Segoe UI"/>
              </a:rPr>
              <a:t>• Coût — payer pour des VM surdimensionnées et inactives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Le paysage des plateformes applicatives Azure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App Service — applications web et API gérées, voie la plus rapide pour .NET</a:t>
            </a:r>
          </a:p>
          <a:p>
            <a:pPr>
              <a:defRPr sz="1800" b="0">
                <a:solidFill>
                  <a:srgbClr val="E5E7EB"/>
                </a:solidFill>
                <a:latin typeface="Segoe UI"/>
              </a:defRPr>
            </a:pPr>
            <a:r>
              <a:rPr sz="1800" b="0">
                <a:solidFill>
                  <a:srgbClr val="E5E7EB"/>
                </a:solidFill>
                <a:latin typeface="Segoe UI"/>
              </a:rPr>
              <a:t>• Azure Container Apps — conteneurs serverless, mise à l'échelle à zéro, microservices</a:t>
            </a:r>
          </a:p>
          <a:p>
            <a:pPr>
              <a:defRPr sz="1800" b="0">
                <a:solidFill>
                  <a:srgbClr val="E5E7EB"/>
                </a:solidFill>
                <a:latin typeface="Segoe UI"/>
              </a:defRPr>
            </a:pPr>
            <a:r>
              <a:rPr sz="1800" b="0">
                <a:solidFill>
                  <a:srgbClr val="E5E7EB"/>
                </a:solidFill>
                <a:latin typeface="Segoe UI"/>
              </a:rPr>
              <a:t>• AKS — Kubernetes complet pour un contrôle maximal</a:t>
            </a:r>
          </a:p>
          <a:p>
            <a:pPr>
              <a:defRPr sz="1800" b="0">
                <a:solidFill>
                  <a:srgbClr val="E5E7EB"/>
                </a:solidFill>
                <a:latin typeface="Segoe UI"/>
              </a:defRPr>
            </a:pPr>
            <a:r>
              <a:rPr sz="1800" b="0">
                <a:solidFill>
                  <a:srgbClr val="E5E7EB"/>
                </a:solidFill>
                <a:latin typeface="Segoe UI"/>
              </a:rPr>
              <a:t>• Azure Functions — serverless événementiel à la consommation</a:t>
            </a:r>
          </a:p>
          <a:p>
            <a:pPr>
              <a:defRPr sz="1800" b="0">
                <a:solidFill>
                  <a:srgbClr val="E5E7EB"/>
                </a:solidFill>
                <a:latin typeface="Segoe UI"/>
              </a:defRPr>
            </a:pPr>
            <a:r>
              <a:rPr sz="1800" b="0">
                <a:solidFill>
                  <a:srgbClr val="E5E7EB"/>
                </a:solidFill>
                <a:latin typeface="Segoe UI"/>
              </a:rPr>
              <a:t>• Cible du jour : App Service exécutant des conteneurs .NET depuis ACR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La stratégie de modernisation — les 5 R</a:t>
            </a:r>
          </a:p>
        </p:txBody>
      </p:sp>
      <p:pic>
        <p:nvPicPr>
          <p:cNvPr id="4" name="Picture 3" descr="modernization-strategy-5rs-fr.png"/>
          <p:cNvPicPr>
            <a:picLocks noChangeAspect="1"/>
          </p:cNvPicPr>
          <p:nvPr/>
        </p:nvPicPr>
        <p:blipFill>
          <a:blip r:embed="rId3"/>
          <a:stretch>
            <a:fillRect/>
          </a:stretch>
        </p:blipFill>
        <p:spPr>
          <a:xfrm>
            <a:off x="548640" y="1828800"/>
            <a:ext cx="11064240" cy="16517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Prendre une décision éclairée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Évaluer : version du runtime, dépendances, état, gravité des données</a:t>
            </a:r>
          </a:p>
          <a:p>
            <a:pPr>
              <a:defRPr sz="1800" b="0">
                <a:solidFill>
                  <a:srgbClr val="E5E7EB"/>
                </a:solidFill>
                <a:latin typeface="Segoe UI"/>
              </a:defRPr>
            </a:pPr>
            <a:r>
              <a:rPr sz="1800" b="0">
                <a:solidFill>
                  <a:srgbClr val="E5E7EB"/>
                </a:solidFill>
                <a:latin typeface="Segoe UI"/>
              </a:rPr>
              <a:t>• Noter chaque app : valeur métier × risque technique</a:t>
            </a:r>
          </a:p>
          <a:p>
            <a:pPr>
              <a:defRPr sz="1800" b="0">
                <a:solidFill>
                  <a:srgbClr val="E5E7EB"/>
                </a:solidFill>
                <a:latin typeface="Segoe UI"/>
              </a:defRPr>
            </a:pPr>
            <a:r>
              <a:rPr sz="1800" b="0">
                <a:solidFill>
                  <a:srgbClr val="E5E7EB"/>
                </a:solidFill>
                <a:latin typeface="Segoe UI"/>
              </a:rPr>
              <a:t>• Choisir le R le moins coûteux qui débloque le résultat métier</a:t>
            </a:r>
          </a:p>
          <a:p>
            <a:pPr>
              <a:defRPr sz="1800" b="0">
                <a:solidFill>
                  <a:srgbClr val="E5E7EB"/>
                </a:solidFill>
                <a:latin typeface="Segoe UI"/>
              </a:defRPr>
            </a:pPr>
            <a:r>
              <a:rPr sz="1800" b="0">
                <a:solidFill>
                  <a:srgbClr val="E5E7EB"/>
                </a:solidFill>
                <a:latin typeface="Segoe UI"/>
              </a:rPr>
              <a:t>• Le prouver de bout en bout sur une app avant de généraliser</a:t>
            </a:r>
          </a:p>
          <a:p>
            <a:pPr>
              <a:defRPr sz="1800" b="0">
                <a:solidFill>
                  <a:srgbClr val="E5E7EB"/>
                </a:solidFill>
                <a:latin typeface="Segoe UI"/>
              </a:defRPr>
            </a:pPr>
            <a:r>
              <a:rPr sz="1800" b="0">
                <a:solidFill>
                  <a:srgbClr val="E5E7EB"/>
                </a:solidFill>
                <a:latin typeface="Segoe UI"/>
              </a:rPr>
              <a:t>• Outils : .NET Upgrade Assistant + agent de modernisation GitHub Copilot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MAPAQ — notre architecture de référence</a:t>
            </a:r>
          </a:p>
        </p:txBody>
      </p:sp>
      <p:pic>
        <p:nvPicPr>
          <p:cNvPr id="4" name="Picture 3" descr="reference-architecture-fr.png"/>
          <p:cNvPicPr>
            <a:picLocks noChangeAspect="1"/>
          </p:cNvPicPr>
          <p:nvPr/>
        </p:nvPicPr>
        <p:blipFill>
          <a:blip r:embed="rId3"/>
          <a:stretch>
            <a:fillRect/>
          </a:stretch>
        </p:blipFill>
        <p:spPr>
          <a:xfrm>
            <a:off x="548640" y="1828800"/>
            <a:ext cx="11064240" cy="2570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Accélérer avec le low-code + l'IA</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Low-code (Power Platform) pour les apps périphériques, portails et flux</a:t>
            </a:r>
          </a:p>
          <a:p>
            <a:pPr>
              <a:defRPr sz="1800" b="0">
                <a:solidFill>
                  <a:srgbClr val="E5E7EB"/>
                </a:solidFill>
                <a:latin typeface="Segoe UI"/>
              </a:defRPr>
            </a:pPr>
            <a:r>
              <a:rPr sz="1800" b="0">
                <a:solidFill>
                  <a:srgbClr val="E5E7EB"/>
                </a:solidFill>
                <a:latin typeface="Segoe UI"/>
              </a:rPr>
              <a:t>• Le codage assisté par IA déplace l'effort de la frappe vers la revue</a:t>
            </a:r>
          </a:p>
          <a:p>
            <a:pPr>
              <a:defRPr sz="1800" b="0">
                <a:solidFill>
                  <a:srgbClr val="E5E7EB"/>
                </a:solidFill>
                <a:latin typeface="Segoe UI"/>
              </a:defRPr>
            </a:pPr>
            <a:r>
              <a:rPr sz="1800" b="0">
                <a:solidFill>
                  <a:srgbClr val="E5E7EB"/>
                </a:solidFill>
                <a:latin typeface="Segoe UI"/>
              </a:rPr>
              <a:t>• Copilot pour le code, les tests et la documentation au quotidien</a:t>
            </a:r>
          </a:p>
          <a:p>
            <a:pPr>
              <a:defRPr sz="1800" b="0">
                <a:solidFill>
                  <a:srgbClr val="E5E7EB"/>
                </a:solidFill>
                <a:latin typeface="Segoe UI"/>
              </a:defRPr>
            </a:pPr>
            <a:r>
              <a:rPr sz="1800" b="0">
                <a:solidFill>
                  <a:srgbClr val="E5E7EB"/>
                </a:solidFill>
                <a:latin typeface="Segoe UI"/>
              </a:rPr>
              <a:t>• Agents spécialisés pour les mises à niveau et migrations complètes</a:t>
            </a:r>
          </a:p>
          <a:p>
            <a:pPr>
              <a:defRPr sz="1800" b="0">
                <a:solidFill>
                  <a:srgbClr val="E5E7EB"/>
                </a:solidFill>
                <a:latin typeface="Segoe UI"/>
              </a:defRPr>
            </a:pPr>
            <a:r>
              <a:rPr sz="1800" b="0">
                <a:solidFill>
                  <a:srgbClr val="E5E7EB"/>
                </a:solidFill>
                <a:latin typeface="Segoe UI"/>
              </a:rPr>
              <a:t>• L'humain garde le contrôle — réviser chaque changement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GitHub Copilot dans VS Code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Complétions en ligne et chat ancrés dans votre code</a:t>
            </a:r>
          </a:p>
          <a:p>
            <a:pPr>
              <a:defRPr sz="1800" b="0">
                <a:solidFill>
                  <a:srgbClr val="E5E7EB"/>
                </a:solidFill>
                <a:latin typeface="Segoe UI"/>
              </a:defRPr>
            </a:pPr>
            <a:r>
              <a:rPr sz="1800" b="0">
                <a:solidFill>
                  <a:srgbClr val="E5E7EB"/>
                </a:solidFill>
                <a:latin typeface="Segoe UI"/>
              </a:rPr>
              <a:t>• Mode agent — tâches multi-étapes avec utilisation d'outils</a:t>
            </a:r>
          </a:p>
          <a:p>
            <a:pPr>
              <a:defRPr sz="1800" b="0">
                <a:solidFill>
                  <a:srgbClr val="E5E7EB"/>
                </a:solidFill>
                <a:latin typeface="Segoe UI"/>
              </a:defRPr>
            </a:pPr>
            <a:r>
              <a:rPr sz="1800" b="0">
                <a:solidFill>
                  <a:srgbClr val="E5E7EB"/>
                </a:solidFill>
                <a:latin typeface="Segoe UI"/>
              </a:rPr>
              <a:t>• Compétences et outils MCP étendent les capacités de Copilot</a:t>
            </a:r>
          </a:p>
          <a:p>
            <a:pPr>
              <a:defRPr sz="1800" b="0">
                <a:solidFill>
                  <a:srgbClr val="E5E7EB"/>
                </a:solidFill>
                <a:latin typeface="Segoe UI"/>
              </a:defRPr>
            </a:pPr>
            <a:r>
              <a:rPr sz="1800" b="0">
                <a:solidFill>
                  <a:srgbClr val="E5E7EB"/>
                </a:solidFill>
                <a:latin typeface="Segoe UI"/>
              </a:rPr>
              <a:t>• Fonctionne avec votre dépôt, le terminal, les tests et l'outillage Azure</a:t>
            </a:r>
          </a:p>
          <a:p>
            <a:pPr>
              <a:defRPr sz="1800" b="0">
                <a:solidFill>
                  <a:srgbClr val="E5E7EB"/>
                </a:solidFill>
                <a:latin typeface="Segoe UI"/>
              </a:defRPr>
            </a:pPr>
            <a:r>
              <a:rPr sz="1800" b="0">
                <a:solidFill>
                  <a:srgbClr val="E5E7EB"/>
                </a:solidFill>
                <a:latin typeface="Segoe UI"/>
              </a:rPr>
              <a:t>• Déjà installé dans l'environnement de cet atelier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Modernisation d'applications .NET avec GitHub Copilot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Installée comme extension VS Code dans cet atelier</a:t>
            </a:r>
          </a:p>
          <a:p>
            <a:pPr>
              <a:defRPr sz="1800" b="0">
                <a:solidFill>
                  <a:srgbClr val="E5E7EB"/>
                </a:solidFill>
                <a:latin typeface="Segoe UI"/>
              </a:defRPr>
            </a:pPr>
            <a:r>
              <a:rPr sz="1800" b="0">
                <a:solidFill>
                  <a:srgbClr val="E5E7EB"/>
                </a:solidFill>
                <a:latin typeface="Segoe UI"/>
              </a:rPr>
              <a:t>• Évalue la solution et propose un plan de mise à niveau</a:t>
            </a:r>
          </a:p>
          <a:p>
            <a:pPr>
              <a:defRPr sz="1800" b="0">
                <a:solidFill>
                  <a:srgbClr val="E5E7EB"/>
                </a:solidFill>
                <a:latin typeface="Segoe UI"/>
              </a:defRPr>
            </a:pPr>
            <a:r>
              <a:rPr sz="1800" b="0">
                <a:solidFill>
                  <a:srgbClr val="E5E7EB"/>
                </a:solidFill>
                <a:latin typeface="Segoe UI"/>
              </a:rPr>
              <a:t>• Automatise les mises à niveau de framework cible et de paquets</a:t>
            </a:r>
          </a:p>
          <a:p>
            <a:pPr>
              <a:defRPr sz="1800" b="0">
                <a:solidFill>
                  <a:srgbClr val="E5E7EB"/>
                </a:solidFill>
                <a:latin typeface="Segoe UI"/>
              </a:defRPr>
            </a:pPr>
            <a:r>
              <a:rPr sz="1800" b="0">
                <a:solidFill>
                  <a:srgbClr val="E5E7EB"/>
                </a:solidFill>
                <a:latin typeface="Segoe UI"/>
              </a:rPr>
              <a:t>• Corrige les changements cassants et explique chaque modification</a:t>
            </a:r>
          </a:p>
          <a:p>
            <a:pPr>
              <a:defRPr sz="1800" b="0">
                <a:solidFill>
                  <a:srgbClr val="E5E7EB"/>
                </a:solidFill>
                <a:latin typeface="Segoe UI"/>
              </a:defRPr>
            </a:pPr>
            <a:r>
              <a:rPr sz="1800" b="0">
                <a:solidFill>
                  <a:srgbClr val="E5E7EB"/>
                </a:solidFill>
                <a:latin typeface="Segoe UI"/>
              </a:rPr>
              <a:t>• Suit la progression via un tableau de bord avec tâches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Comment fonctionne l'agent de modernisation</a:t>
            </a:r>
          </a:p>
        </p:txBody>
      </p:sp>
      <p:pic>
        <p:nvPicPr>
          <p:cNvPr id="4" name="Picture 3" descr="copilot-agent-workflow-fr.png"/>
          <p:cNvPicPr>
            <a:picLocks noChangeAspect="1"/>
          </p:cNvPicPr>
          <p:nvPr/>
        </p:nvPicPr>
        <p:blipFill>
          <a:blip r:embed="rId3"/>
          <a:stretch>
            <a:fillRect/>
          </a:stretch>
        </p:blipFill>
        <p:spPr>
          <a:xfrm>
            <a:off x="548640" y="1828800"/>
            <a:ext cx="11064240" cy="9292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Démo — exécuter l'agent de modernisation .NET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1 · Ouvrir la solution; démarrer l'agent de modernisation</a:t>
            </a:r>
          </a:p>
          <a:p>
            <a:pPr>
              <a:defRPr sz="1800" b="0">
                <a:solidFill>
                  <a:srgbClr val="E5E7EB"/>
                </a:solidFill>
                <a:latin typeface="Segoe UI"/>
              </a:defRPr>
            </a:pPr>
            <a:r>
              <a:rPr sz="1800" b="0">
                <a:solidFill>
                  <a:srgbClr val="E5E7EB"/>
                </a:solidFill>
                <a:latin typeface="Segoe UI"/>
              </a:rPr>
              <a:t>• 2 · Réviser l'évaluation et les options de mise à niveau</a:t>
            </a:r>
          </a:p>
          <a:p>
            <a:pPr>
              <a:defRPr sz="1800" b="0">
                <a:solidFill>
                  <a:srgbClr val="E5E7EB"/>
                </a:solidFill>
                <a:latin typeface="Segoe UI"/>
              </a:defRPr>
            </a:pPr>
            <a:r>
              <a:rPr sz="1800" b="0">
                <a:solidFill>
                  <a:srgbClr val="E5E7EB"/>
                </a:solidFill>
                <a:latin typeface="Segoe UI"/>
              </a:rPr>
              <a:t>• 3 · Confirmer les options; laisser l'agent créer les tâches</a:t>
            </a:r>
          </a:p>
          <a:p>
            <a:pPr>
              <a:defRPr sz="1800" b="0">
                <a:solidFill>
                  <a:srgbClr val="E5E7EB"/>
                </a:solidFill>
                <a:latin typeface="Segoe UI"/>
              </a:defRPr>
            </a:pPr>
            <a:r>
              <a:rPr sz="1800" b="0">
                <a:solidFill>
                  <a:srgbClr val="E5E7EB"/>
                </a:solidFill>
                <a:latin typeface="Segoe UI"/>
              </a:rPr>
              <a:t>• 4 · Observer la mise à niveau d'un projet, la compilation et les tests</a:t>
            </a:r>
          </a:p>
          <a:p>
            <a:pPr>
              <a:defRPr sz="1800" b="0">
                <a:solidFill>
                  <a:srgbClr val="E5E7EB"/>
                </a:solidFill>
                <a:latin typeface="Segoe UI"/>
              </a:defRPr>
            </a:pPr>
            <a:r>
              <a:rPr sz="1800" b="0">
                <a:solidFill>
                  <a:srgbClr val="E5E7EB"/>
                </a:solidFill>
                <a:latin typeface="Segoe UI"/>
              </a:rPr>
              <a:t>• 5 · Réviser le diff, accepter et committer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Module 4 — Provisionnement (azd up)</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azd env new mapaq-dev</a:t>
            </a:r>
          </a:p>
          <a:p>
            <a:pPr>
              <a:defRPr sz="1800" b="0">
                <a:solidFill>
                  <a:srgbClr val="E5E7EB"/>
                </a:solidFill>
                <a:latin typeface="Segoe UI"/>
              </a:defRPr>
            </a:pPr>
            <a:r>
              <a:rPr sz="1800" b="0">
                <a:solidFill>
                  <a:srgbClr val="E5E7EB"/>
                </a:solidFill>
                <a:latin typeface="Segoe UI"/>
              </a:rPr>
              <a:t>• azd up — Bicep déploie RG, Log Analytics, App Insights, App Service, SQL, ACR, VNet</a:t>
            </a:r>
          </a:p>
          <a:p>
            <a:pPr>
              <a:defRPr sz="1800" b="0">
                <a:solidFill>
                  <a:srgbClr val="E5E7EB"/>
                </a:solidFill>
                <a:latin typeface="Segoe UI"/>
              </a:defRPr>
            </a:pPr>
            <a:r>
              <a:rPr sz="1800" b="0">
                <a:solidFill>
                  <a:srgbClr val="E5E7EB"/>
                </a:solidFill>
                <a:latin typeface="Segoe UI"/>
              </a:rPr>
              <a:t>• Deux conteneurs .NET sont construits, poussés vers ACR et déployés</a:t>
            </a:r>
          </a:p>
          <a:p>
            <a:pPr>
              <a:defRPr sz="1800" b="0">
                <a:solidFill>
                  <a:srgbClr val="E5E7EB"/>
                </a:solidFill>
                <a:latin typeface="Segoe UI"/>
              </a:defRPr>
            </a:pPr>
            <a:r>
              <a:rPr sz="1800" b="0">
                <a:solidFill>
                  <a:srgbClr val="E5E7EB"/>
                </a:solidFill>
                <a:latin typeface="Segoe UI"/>
              </a:rPr>
              <a:t>• Chaînes de connexion et identité câblées en App Settings — jamais dans le code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Infrastructure as code — modules Bicep</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infra/main.bicep — compose le tout</a:t>
            </a:r>
          </a:p>
          <a:p>
            <a:pPr>
              <a:defRPr sz="1800" b="0">
                <a:solidFill>
                  <a:srgbClr val="E5E7EB"/>
                </a:solidFill>
                <a:latin typeface="Segoe UI"/>
              </a:defRPr>
            </a:pPr>
            <a:r>
              <a:rPr sz="1800" b="0">
                <a:solidFill>
                  <a:srgbClr val="E5E7EB"/>
                </a:solidFill>
                <a:latin typeface="Segoe UI"/>
              </a:rPr>
              <a:t>• modules/loganalytics.bicep · appinsights.bicep — fondation d'observabilité</a:t>
            </a:r>
          </a:p>
          <a:p>
            <a:pPr>
              <a:defRPr sz="1800" b="0">
                <a:solidFill>
                  <a:srgbClr val="E5E7EB"/>
                </a:solidFill>
                <a:latin typeface="Segoe UI"/>
              </a:defRPr>
            </a:pPr>
            <a:r>
              <a:rPr sz="1800" b="0">
                <a:solidFill>
                  <a:srgbClr val="E5E7EB"/>
                </a:solidFill>
                <a:latin typeface="Segoe UI"/>
              </a:rPr>
              <a:t>• modules/appservice.bicep — Web + API avec identité gérée, conteneurs</a:t>
            </a:r>
          </a:p>
          <a:p>
            <a:pPr>
              <a:defRPr sz="1800" b="0">
                <a:solidFill>
                  <a:srgbClr val="E5E7EB"/>
                </a:solidFill>
                <a:latin typeface="Segoe UI"/>
              </a:defRPr>
            </a:pPr>
            <a:r>
              <a:rPr sz="1800" b="0">
                <a:solidFill>
                  <a:srgbClr val="E5E7EB"/>
                </a:solidFill>
                <a:latin typeface="Segoe UI"/>
              </a:rPr>
              <a:t>• modules/sql.bicep — Azure SQL, auth Entra-only, point de terminaison privé</a:t>
            </a:r>
          </a:p>
          <a:p>
            <a:pPr>
              <a:defRPr sz="1800" b="0">
                <a:solidFill>
                  <a:srgbClr val="E5E7EB"/>
                </a:solidFill>
                <a:latin typeface="Segoe UI"/>
              </a:defRPr>
            </a:pPr>
            <a:r>
              <a:rPr sz="1800" b="0">
                <a:solidFill>
                  <a:srgbClr val="E5E7EB"/>
                </a:solidFill>
                <a:latin typeface="Segoe UI"/>
              </a:rPr>
              <a:t>• modules/vnet.bicep · privateEndpoints.bicep · keyvault.bicep · identity.bicep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Ce qui est réellement déployé — rg-dev-001</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Plan App Service : P1v3 (PremiumV3, Linux) — compatible mise à l'échelle auto</a:t>
            </a:r>
          </a:p>
          <a:p>
            <a:pPr>
              <a:defRPr sz="1800" b="0">
                <a:solidFill>
                  <a:srgbClr val="E5E7EB"/>
                </a:solidFill>
                <a:latin typeface="Segoe UI"/>
              </a:defRPr>
            </a:pPr>
            <a:r>
              <a:rPr sz="1800" b="0">
                <a:solidFill>
                  <a:srgbClr val="E5E7EB"/>
                </a:solidFill>
                <a:latin typeface="Segoe UI"/>
              </a:rPr>
              <a:t>• mapaq-web et mapaq-api — conteneurs Linux tirés depuis Azure Container Registry</a:t>
            </a:r>
          </a:p>
          <a:p>
            <a:pPr>
              <a:defRPr sz="1800" b="0">
                <a:solidFill>
                  <a:srgbClr val="E5E7EB"/>
                </a:solidFill>
                <a:latin typeface="Segoe UI"/>
              </a:defRPr>
            </a:pPr>
            <a:r>
              <a:rPr sz="1800" b="0">
                <a:solidFill>
                  <a:srgbClr val="E5E7EB"/>
                </a:solidFill>
                <a:latin typeface="Segoe UI"/>
              </a:rPr>
              <a:t>• Azure SQL — point de terminaison privé, authentification Entra-only</a:t>
            </a:r>
          </a:p>
          <a:p>
            <a:pPr>
              <a:defRPr sz="1800" b="0">
                <a:solidFill>
                  <a:srgbClr val="E5E7EB"/>
                </a:solidFill>
                <a:latin typeface="Segoe UI"/>
              </a:defRPr>
            </a:pPr>
            <a:r>
              <a:rPr sz="1800" b="0">
                <a:solidFill>
                  <a:srgbClr val="E5E7EB"/>
                </a:solidFill>
                <a:latin typeface="Segoe UI"/>
              </a:rPr>
              <a:t>• Application Insights — basé sur espace de travail, adossé à Log Analytics</a:t>
            </a:r>
          </a:p>
          <a:p>
            <a:pPr>
              <a:defRPr sz="1800" b="0">
                <a:solidFill>
                  <a:srgbClr val="E5E7EB"/>
                </a:solidFill>
                <a:latin typeface="Segoe UI"/>
              </a:defRPr>
            </a:pPr>
            <a:r>
              <a:rPr sz="1800" b="0">
                <a:solidFill>
                  <a:srgbClr val="E5E7EB"/>
                </a:solidFill>
                <a:latin typeface="Segoe UI"/>
              </a:rPr>
              <a:t>• Identité gérée, Key Vault, VNet avec sous-réseaux app et point de terminaison privé</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Le panneau App Service — une carte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Vue d'ensemble — URL, état, plan, région, contrôle d'intégrité</a:t>
            </a:r>
          </a:p>
          <a:p>
            <a:pPr>
              <a:defRPr sz="1800" b="0">
                <a:solidFill>
                  <a:srgbClr val="E5E7EB"/>
                </a:solidFill>
                <a:latin typeface="Segoe UI"/>
              </a:defRPr>
            </a:pPr>
            <a:r>
              <a:rPr sz="1800" b="0">
                <a:solidFill>
                  <a:srgbClr val="E5E7EB"/>
                </a:solidFill>
                <a:latin typeface="Segoe UI"/>
              </a:rPr>
              <a:t>• Déploiement — Centre de déploiement, emplacements, paramètres de conteneur</a:t>
            </a:r>
          </a:p>
          <a:p>
            <a:pPr>
              <a:defRPr sz="1800" b="0">
                <a:solidFill>
                  <a:srgbClr val="E5E7EB"/>
                </a:solidFill>
                <a:latin typeface="Segoe UI"/>
              </a:defRPr>
            </a:pPr>
            <a:r>
              <a:rPr sz="1800" b="0">
                <a:solidFill>
                  <a:srgbClr val="E5E7EB"/>
                </a:solidFill>
                <a:latin typeface="Segoe UI"/>
              </a:rPr>
              <a:t>• Paramètres — Configuration, variables d'environnement, Identité, Réseau</a:t>
            </a:r>
          </a:p>
          <a:p>
            <a:pPr>
              <a:defRPr sz="1800" b="0">
                <a:solidFill>
                  <a:srgbClr val="E5E7EB"/>
                </a:solidFill>
                <a:latin typeface="Segoe UI"/>
              </a:defRPr>
            </a:pPr>
            <a:r>
              <a:rPr sz="1800" b="0">
                <a:solidFill>
                  <a:srgbClr val="E5E7EB"/>
                </a:solidFill>
                <a:latin typeface="Segoe UI"/>
              </a:rPr>
              <a:t>• Surveillance — Flux de journaux, Métriques, App Insights, Diagnostiquer</a:t>
            </a:r>
          </a:p>
          <a:p>
            <a:pPr>
              <a:defRPr sz="1800" b="0">
                <a:solidFill>
                  <a:srgbClr val="E5E7EB"/>
                </a:solidFill>
                <a:latin typeface="Segoe UI"/>
              </a:defRPr>
            </a:pPr>
            <a:r>
              <a:rPr sz="1800" b="0">
                <a:solidFill>
                  <a:srgbClr val="E5E7EB"/>
                </a:solidFill>
                <a:latin typeface="Segoe UI"/>
              </a:rPr>
              <a:t>• Mise à l'échelle — verticale (plan) et horizontale (instances / auto)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App Service — les paramètres qui comptent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Always On = activé — garde l'app au chaud (réglé sur MAPAQ)</a:t>
            </a:r>
          </a:p>
          <a:p>
            <a:pPr>
              <a:defRPr sz="1800" b="0">
                <a:solidFill>
                  <a:srgbClr val="E5E7EB"/>
                </a:solidFill>
                <a:latin typeface="Segoe UI"/>
              </a:defRPr>
            </a:pPr>
            <a:r>
              <a:rPr sz="1800" b="0">
                <a:solidFill>
                  <a:srgbClr val="E5E7EB"/>
                </a:solidFill>
                <a:latin typeface="Segoe UI"/>
              </a:rPr>
              <a:t>• Chemin de contrôle d'intégrité = /healthz — les instances malsaines sont retirées</a:t>
            </a:r>
          </a:p>
          <a:p>
            <a:pPr>
              <a:defRPr sz="1800" b="0">
                <a:solidFill>
                  <a:srgbClr val="E5E7EB"/>
                </a:solidFill>
                <a:latin typeface="Segoe UI"/>
              </a:defRPr>
            </a:pPr>
            <a:r>
              <a:rPr sz="1800" b="0">
                <a:solidFill>
                  <a:srgbClr val="E5E7EB"/>
                </a:solidFill>
                <a:latin typeface="Segoe UI"/>
              </a:rPr>
              <a:t>• HTTPS uniquement, TLS minimum = 1.2, FTP = désactivé</a:t>
            </a:r>
          </a:p>
          <a:p>
            <a:pPr>
              <a:defRPr sz="1800" b="0">
                <a:solidFill>
                  <a:srgbClr val="E5E7EB"/>
                </a:solidFill>
                <a:latin typeface="Segoe UI"/>
              </a:defRPr>
            </a:pPr>
            <a:r>
              <a:rPr sz="1800" b="0">
                <a:solidFill>
                  <a:srgbClr val="E5E7EB"/>
                </a:solidFill>
                <a:latin typeface="Segoe UI"/>
              </a:rPr>
              <a:t>• Pile/runtime — ici un conteneur personnalisé, pas une pile intégrée</a:t>
            </a:r>
          </a:p>
          <a:p>
            <a:pPr>
              <a:defRPr sz="1800" b="0">
                <a:solidFill>
                  <a:srgbClr val="E5E7EB"/>
                </a:solidFill>
                <a:latin typeface="Segoe UI"/>
              </a:defRPr>
            </a:pPr>
            <a:r>
              <a:rPr sz="1800" b="0">
                <a:solidFill>
                  <a:srgbClr val="E5E7EB"/>
                </a:solidFill>
                <a:latin typeface="Segoe UI"/>
              </a:rPr>
              <a:t>• Identité gérée — l'app s'authentifie auprès de SQL, ACR et App Insights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Configuration et variables d'environnement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Les App Settings injectent la configuration comme variables d'environnement</a:t>
            </a:r>
          </a:p>
          <a:p>
            <a:pPr>
              <a:defRPr sz="1800" b="0">
                <a:solidFill>
                  <a:srgbClr val="E5E7EB"/>
                </a:solidFill>
                <a:latin typeface="Segoe UI"/>
              </a:defRPr>
            </a:pPr>
            <a:r>
              <a:rPr sz="1800" b="0">
                <a:solidFill>
                  <a:srgbClr val="E5E7EB"/>
                </a:solidFill>
                <a:latin typeface="Segoe UI"/>
              </a:rPr>
              <a:t>• Clés réelles : APPLICATIONINSIGHTS_CONNECTION_STRING, ApplicationInsights__ConnectionString</a:t>
            </a:r>
          </a:p>
          <a:p>
            <a:pPr>
              <a:defRPr sz="1800" b="0">
                <a:solidFill>
                  <a:srgbClr val="E5E7EB"/>
                </a:solidFill>
                <a:latin typeface="Segoe UI"/>
              </a:defRPr>
            </a:pPr>
            <a:r>
              <a:rPr sz="1800" b="0">
                <a:solidFill>
                  <a:srgbClr val="E5E7EB"/>
                </a:solidFill>
                <a:latin typeface="Segoe UI"/>
              </a:rPr>
              <a:t>• Ingestion par identité : APPLICATIONINSIGHTS_AUTHENTICATION_STRING + AZURE_CLIENT_ID</a:t>
            </a:r>
          </a:p>
          <a:p>
            <a:pPr>
              <a:defRPr sz="1800" b="0">
                <a:solidFill>
                  <a:srgbClr val="E5E7EB"/>
                </a:solidFill>
                <a:latin typeface="Segoe UI"/>
              </a:defRPr>
            </a:pPr>
            <a:r>
              <a:rPr sz="1800" b="0">
                <a:solidFill>
                  <a:srgbClr val="E5E7EB"/>
                </a:solidFill>
                <a:latin typeface="Segoe UI"/>
              </a:rPr>
              <a:t>• ConnectionStrings__MapaqSql, MapaqApi__BaseAddress, WebOrigin</a:t>
            </a:r>
          </a:p>
          <a:p>
            <a:pPr>
              <a:defRPr sz="1800" b="0">
                <a:solidFill>
                  <a:srgbClr val="E5E7EB"/>
                </a:solidFill>
                <a:latin typeface="Segoe UI"/>
              </a:defRPr>
            </a:pPr>
            <a:r>
              <a:rPr sz="1800" b="0">
                <a:solidFill>
                  <a:srgbClr val="E5E7EB"/>
                </a:solidFill>
                <a:latin typeface="Segoe UI"/>
              </a:rPr>
              <a:t>• Conteneur : DOCKER_REGISTRY_SERVER_URL, WEBSITES_PORT, OTEL_RESOURCE_ATTRIBUTES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Environnements et emplacements de déploiement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Environnements App Service séparés par étape : dev / test / prod</a:t>
            </a:r>
          </a:p>
          <a:p>
            <a:pPr>
              <a:defRPr sz="1800" b="0">
                <a:solidFill>
                  <a:srgbClr val="E5E7EB"/>
                </a:solidFill>
                <a:latin typeface="Segoe UI"/>
              </a:defRPr>
            </a:pPr>
            <a:r>
              <a:rPr sz="1800" b="0">
                <a:solidFill>
                  <a:srgbClr val="E5E7EB"/>
                </a:solidFill>
                <a:latin typeface="Segoe UI"/>
              </a:rPr>
              <a:t>• Emplacements de déploiement = copies de préproduction sur le même plan</a:t>
            </a:r>
          </a:p>
          <a:p>
            <a:pPr>
              <a:defRPr sz="1800" b="0">
                <a:solidFill>
                  <a:srgbClr val="E5E7EB"/>
                </a:solidFill>
                <a:latin typeface="Segoe UI"/>
              </a:defRPr>
            </a:pPr>
            <a:r>
              <a:rPr sz="1800" b="0">
                <a:solidFill>
                  <a:srgbClr val="E5E7EB"/>
                </a:solidFill>
                <a:latin typeface="Segoe UI"/>
              </a:rPr>
              <a:t>• Préchauffer un emplacement puis le permuter avec quasi-zéro interruption</a:t>
            </a:r>
          </a:p>
          <a:p>
            <a:pPr>
              <a:defRPr sz="1800" b="0">
                <a:solidFill>
                  <a:srgbClr val="E5E7EB"/>
                </a:solidFill>
                <a:latin typeface="Segoe UI"/>
              </a:defRPr>
            </a:pPr>
            <a:r>
              <a:rPr sz="1800" b="0">
                <a:solidFill>
                  <a:srgbClr val="E5E7EB"/>
                </a:solidFill>
                <a:latin typeface="Segoe UI"/>
              </a:rPr>
              <a:t>• Les paramètres collants à l'emplacement restent en place lors d'une permutation</a:t>
            </a:r>
          </a:p>
          <a:p>
            <a:pPr>
              <a:defRPr sz="1800" b="0">
                <a:solidFill>
                  <a:srgbClr val="E5E7EB"/>
                </a:solidFill>
                <a:latin typeface="Segoe UI"/>
              </a:defRPr>
            </a:pPr>
            <a:r>
              <a:rPr sz="1800" b="0">
                <a:solidFill>
                  <a:srgbClr val="E5E7EB"/>
                </a:solidFill>
                <a:latin typeface="Segoe UI"/>
              </a:rPr>
              <a:t>• Modèle : déployer en préproduction → test de fumée → permuter en production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Exécuter .NET en conteneurs sur App Service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Source de l'image : Azure Container Registry (acr…azurecr.io/mapaq-web:&lt;sha&gt;)</a:t>
            </a:r>
          </a:p>
          <a:p>
            <a:pPr>
              <a:defRPr sz="1800" b="0">
                <a:solidFill>
                  <a:srgbClr val="E5E7EB"/>
                </a:solidFill>
                <a:latin typeface="Segoe UI"/>
              </a:defRPr>
            </a:pPr>
            <a:r>
              <a:rPr sz="1800" b="0">
                <a:solidFill>
                  <a:srgbClr val="E5E7EB"/>
                </a:solidFill>
                <a:latin typeface="Segoe UI"/>
              </a:rPr>
              <a:t>• Déploiement continu depuis ACR à chaque nouvelle image</a:t>
            </a:r>
          </a:p>
          <a:p>
            <a:pPr>
              <a:defRPr sz="1800" b="0">
                <a:solidFill>
                  <a:srgbClr val="E5E7EB"/>
                </a:solidFill>
                <a:latin typeface="Segoe UI"/>
              </a:defRPr>
            </a:pPr>
            <a:r>
              <a:rPr sz="1800" b="0">
                <a:solidFill>
                  <a:srgbClr val="E5E7EB"/>
                </a:solidFill>
                <a:latin typeface="Segoe UI"/>
              </a:rPr>
              <a:t>• WEBSITES_PORT indique à App Service le port du conteneur</a:t>
            </a:r>
          </a:p>
          <a:p>
            <a:pPr>
              <a:defRPr sz="1800" b="0">
                <a:solidFill>
                  <a:srgbClr val="E5E7EB"/>
                </a:solidFill>
                <a:latin typeface="Segoe UI"/>
              </a:defRPr>
            </a:pPr>
            <a:r>
              <a:rPr sz="1800" b="0">
                <a:solidFill>
                  <a:srgbClr val="E5E7EB"/>
                </a:solidFill>
                <a:latin typeface="Segoe UI"/>
              </a:rPr>
              <a:t>• Tirage authentifié via l'identité gérée de l'app (aucun identifiant admin)</a:t>
            </a:r>
          </a:p>
          <a:p>
            <a:pPr>
              <a:defRPr sz="1800" b="0">
                <a:solidFill>
                  <a:srgbClr val="E5E7EB"/>
                </a:solidFill>
                <a:latin typeface="Segoe UI"/>
              </a:defRPr>
            </a:pPr>
            <a:r>
              <a:rPr sz="1800" b="0">
                <a:solidFill>
                  <a:srgbClr val="E5E7EB"/>
                </a:solidFill>
                <a:latin typeface="Segoe UI"/>
              </a:rPr>
              <a:t>• La même image tourne en local, en CI et dans Azure — parité</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Flux de journaux — journaux d'application en direct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Surveillance → Flux de journaux affiche stdout/stderr en temps réel</a:t>
            </a:r>
          </a:p>
          <a:p>
            <a:pPr>
              <a:defRPr sz="1800" b="0">
                <a:solidFill>
                  <a:srgbClr val="E5E7EB"/>
                </a:solidFill>
                <a:latin typeface="Segoe UI"/>
              </a:defRPr>
            </a:pPr>
            <a:r>
              <a:rPr sz="1800" b="0">
                <a:solidFill>
                  <a:srgbClr val="E5E7EB"/>
                </a:solidFill>
                <a:latin typeface="Segoe UI"/>
              </a:rPr>
              <a:t>• Activer les journaux App Service (système de fichiers) pour déboguer vite</a:t>
            </a:r>
          </a:p>
          <a:p>
            <a:pPr>
              <a:defRPr sz="1800" b="0">
                <a:solidFill>
                  <a:srgbClr val="E5E7EB"/>
                </a:solidFill>
                <a:latin typeface="Segoe UI"/>
              </a:defRPr>
            </a:pPr>
            <a:r>
              <a:rPr sz="1800" b="0">
                <a:solidFill>
                  <a:srgbClr val="E5E7EB"/>
                </a:solidFill>
                <a:latin typeface="Segoe UI"/>
              </a:rPr>
              <a:t>• Les journaux de conteneur montrent démarrage, contrôle d'intégrité et requêtes</a:t>
            </a:r>
          </a:p>
          <a:p>
            <a:pPr>
              <a:defRPr sz="1800" b="0">
                <a:solidFill>
                  <a:srgbClr val="E5E7EB"/>
                </a:solidFill>
                <a:latin typeface="Segoe UI"/>
              </a:defRPr>
            </a:pPr>
            <a:r>
              <a:rPr sz="1800" b="0">
                <a:solidFill>
                  <a:srgbClr val="E5E7EB"/>
                </a:solidFill>
                <a:latin typeface="Segoe UI"/>
              </a:rPr>
              <a:t>• Idéal pour les moments « est-ce que ça démarre seulement ? » lors d'un déploiement</a:t>
            </a:r>
          </a:p>
          <a:p>
            <a:pPr>
              <a:defRPr sz="1800" b="0">
                <a:solidFill>
                  <a:srgbClr val="E5E7EB"/>
                </a:solidFill>
                <a:latin typeface="Segoe UI"/>
              </a:defRPr>
            </a:pPr>
            <a:r>
              <a:rPr sz="1800" b="0">
                <a:solidFill>
                  <a:srgbClr val="E5E7EB"/>
                </a:solidFill>
                <a:latin typeface="Segoe UI"/>
              </a:rPr>
              <a:t>• Pour une analyse durable, envoyez vers Log Analytics / App Insights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Mise à l'échelle verticale (instances plus grandes)</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Scale up = changer le niveau/la taille du plan App Service</a:t>
            </a:r>
          </a:p>
          <a:p>
            <a:pPr>
              <a:defRPr sz="1800" b="0">
                <a:solidFill>
                  <a:srgbClr val="E5E7EB"/>
                </a:solidFill>
                <a:latin typeface="Segoe UI"/>
              </a:defRPr>
            </a:pPr>
            <a:r>
              <a:rPr sz="1800" b="0">
                <a:solidFill>
                  <a:srgbClr val="E5E7EB"/>
                </a:solidFill>
                <a:latin typeface="Segoe UI"/>
              </a:rPr>
              <a:t>• Plus de CPU, de mémoire et de fonctionnalités par instance</a:t>
            </a:r>
          </a:p>
          <a:p>
            <a:pPr>
              <a:defRPr sz="1800" b="0">
                <a:solidFill>
                  <a:srgbClr val="E5E7EB"/>
                </a:solidFill>
                <a:latin typeface="Segoe UI"/>
              </a:defRPr>
            </a:pPr>
            <a:r>
              <a:rPr sz="1800" b="0">
                <a:solidFill>
                  <a:srgbClr val="E5E7EB"/>
                </a:solidFill>
                <a:latin typeface="Segoe UI"/>
              </a:rPr>
              <a:t>• Plan actuel : P1v3 — possibilité de passer à P2v3 / P3v3</a:t>
            </a:r>
          </a:p>
          <a:p>
            <a:pPr>
              <a:defRPr sz="1800" b="0">
                <a:solidFill>
                  <a:srgbClr val="E5E7EB"/>
                </a:solidFill>
                <a:latin typeface="Segoe UI"/>
              </a:defRPr>
            </a:pPr>
            <a:r>
              <a:rPr sz="1800" b="0">
                <a:solidFill>
                  <a:srgbClr val="E5E7EB"/>
                </a:solidFill>
                <a:latin typeface="Segoe UI"/>
              </a:rPr>
              <a:t>• Les niveaux Premium débloquent l'intégration VNet, plus d'emplacements, l'auto-scale</a:t>
            </a:r>
          </a:p>
          <a:p>
            <a:pPr>
              <a:defRPr sz="1800" b="0">
                <a:solidFill>
                  <a:srgbClr val="E5E7EB"/>
                </a:solidFill>
                <a:latin typeface="Segoe UI"/>
              </a:defRPr>
            </a:pPr>
            <a:r>
              <a:rPr sz="1800" b="0">
                <a:solidFill>
                  <a:srgbClr val="E5E7EB"/>
                </a:solidFill>
                <a:latin typeface="Segoe UI"/>
              </a:rPr>
              <a:t>• Montez en gamme quand une requête est gourmande en ressources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Mise à l'échelle horizontale (plus d'instances)</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Scale out = exécuter plus de copies de l'app derrière l'équilibreur</a:t>
            </a:r>
          </a:p>
          <a:p>
            <a:pPr>
              <a:defRPr sz="1800" b="0">
                <a:solidFill>
                  <a:srgbClr val="E5E7EB"/>
                </a:solidFill>
                <a:latin typeface="Segoe UI"/>
              </a:defRPr>
            </a:pPr>
            <a:r>
              <a:rPr sz="1800" b="0">
                <a:solidFill>
                  <a:srgbClr val="E5E7EB"/>
                </a:solidFill>
                <a:latin typeface="Segoe UI"/>
              </a:rPr>
              <a:t>• Manuel : fixer un nombre d'instances</a:t>
            </a:r>
          </a:p>
          <a:p>
            <a:pPr>
              <a:defRPr sz="1800" b="0">
                <a:solidFill>
                  <a:srgbClr val="E5E7EB"/>
                </a:solidFill>
                <a:latin typeface="Segoe UI"/>
              </a:defRPr>
            </a:pPr>
            <a:r>
              <a:rPr sz="1800" b="0">
                <a:solidFill>
                  <a:srgbClr val="E5E7EB"/>
                </a:solidFill>
                <a:latin typeface="Segoe UI"/>
              </a:rPr>
              <a:t>• Automatique : auto-scale basé sur des règles (plans Premium)</a:t>
            </a:r>
          </a:p>
          <a:p>
            <a:pPr>
              <a:defRPr sz="1800" b="0">
                <a:solidFill>
                  <a:srgbClr val="E5E7EB"/>
                </a:solidFill>
                <a:latin typeface="Segoe UI"/>
              </a:defRPr>
            </a:pPr>
            <a:r>
              <a:rPr sz="1800" b="0">
                <a:solidFill>
                  <a:srgbClr val="E5E7EB"/>
                </a:solidFill>
                <a:latin typeface="Segoe UI"/>
              </a:rPr>
              <a:t>• Montez en nombre pour le débit et la résilience</a:t>
            </a:r>
          </a:p>
          <a:p>
            <a:pPr>
              <a:defRPr sz="1800" b="0">
                <a:solidFill>
                  <a:srgbClr val="E5E7EB"/>
                </a:solidFill>
                <a:latin typeface="Segoe UI"/>
              </a:defRPr>
            </a:pPr>
            <a:r>
              <a:rPr sz="1800" b="0">
                <a:solidFill>
                  <a:srgbClr val="E5E7EB"/>
                </a:solidFill>
                <a:latin typeface="Segoe UI"/>
              </a:rPr>
              <a:t>• Les apps sans état montent proprement — gardez l'état de session externe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Règles d'auto-scale — augmenter et réduire</a:t>
            </a:r>
          </a:p>
        </p:txBody>
      </p:sp>
      <p:pic>
        <p:nvPicPr>
          <p:cNvPr id="4" name="Picture 3" descr="app-service-autoscale-rules-fr.png"/>
          <p:cNvPicPr>
            <a:picLocks noChangeAspect="1"/>
          </p:cNvPicPr>
          <p:nvPr/>
        </p:nvPicPr>
        <p:blipFill>
          <a:blip r:embed="rId3"/>
          <a:stretch>
            <a:fillRect/>
          </a:stretch>
        </p:blipFill>
        <p:spPr>
          <a:xfrm>
            <a:off x="548640" y="1828800"/>
            <a:ext cx="11064240" cy="252279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Démo — tour du panneau App Service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1 · Vue d'ensemble et URL — confirmer que l'app tourne</a:t>
            </a:r>
          </a:p>
          <a:p>
            <a:pPr>
              <a:defRPr sz="1800" b="0">
                <a:solidFill>
                  <a:srgbClr val="E5E7EB"/>
                </a:solidFill>
                <a:latin typeface="Segoe UI"/>
              </a:defRPr>
            </a:pPr>
            <a:r>
              <a:rPr sz="1800" b="0">
                <a:solidFill>
                  <a:srgbClr val="E5E7EB"/>
                </a:solidFill>
                <a:latin typeface="Segoe UI"/>
              </a:rPr>
              <a:t>• 2 · Variables d'environnement — montrer les vrais paramètres injectés</a:t>
            </a:r>
          </a:p>
          <a:p>
            <a:pPr>
              <a:defRPr sz="1800" b="0">
                <a:solidFill>
                  <a:srgbClr val="E5E7EB"/>
                </a:solidFill>
                <a:latin typeface="Segoe UI"/>
              </a:defRPr>
            </a:pPr>
            <a:r>
              <a:rPr sz="1800" b="0">
                <a:solidFill>
                  <a:srgbClr val="E5E7EB"/>
                </a:solidFill>
                <a:latin typeface="Segoe UI"/>
              </a:rPr>
              <a:t>• 3 · Centre de déploiement — image conteneur depuis ACR</a:t>
            </a:r>
          </a:p>
          <a:p>
            <a:pPr>
              <a:defRPr sz="1800" b="0">
                <a:solidFill>
                  <a:srgbClr val="E5E7EB"/>
                </a:solidFill>
                <a:latin typeface="Segoe UI"/>
              </a:defRPr>
            </a:pPr>
            <a:r>
              <a:rPr sz="1800" b="0">
                <a:solidFill>
                  <a:srgbClr val="E5E7EB"/>
                </a:solidFill>
                <a:latin typeface="Segoe UI"/>
              </a:rPr>
              <a:t>• 4 · Flux de journaux — regarder les requêtes en direct</a:t>
            </a:r>
          </a:p>
          <a:p>
            <a:pPr>
              <a:defRPr sz="1800" b="0">
                <a:solidFill>
                  <a:srgbClr val="E5E7EB"/>
                </a:solidFill>
                <a:latin typeface="Segoe UI"/>
              </a:defRPr>
            </a:pPr>
            <a:r>
              <a:rPr sz="1800" b="0">
                <a:solidFill>
                  <a:srgbClr val="E5E7EB"/>
                </a:solidFill>
                <a:latin typeface="Segoe UI"/>
              </a:rPr>
              <a:t>• 5 · Verticale vs horizontale — puis ajouter une règle d'auto-scale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Module 5 — auto-instrumentation Web</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dotnet add package Microsoft.ApplicationInsights.AspNetCore</a:t>
            </a:r>
          </a:p>
          <a:p>
            <a:pPr>
              <a:defRPr sz="1800" b="0">
                <a:solidFill>
                  <a:srgbClr val="E5E7EB"/>
                </a:solidFill>
                <a:latin typeface="Segoe UI"/>
              </a:defRPr>
            </a:pPr>
            <a:r>
              <a:rPr sz="1800" b="0">
                <a:solidFill>
                  <a:srgbClr val="E5E7EB"/>
                </a:solidFill>
                <a:latin typeface="Segoe UI"/>
              </a:rPr>
              <a:t>• builder.Services.AddApplicationInsightsTelemetry();</a:t>
            </a:r>
          </a:p>
          <a:p>
            <a:pPr>
              <a:defRPr sz="1800" b="0">
                <a:solidFill>
                  <a:srgbClr val="E5E7EB"/>
                </a:solidFill>
                <a:latin typeface="Segoe UI"/>
              </a:defRPr>
            </a:pPr>
            <a:r>
              <a:rPr sz="1800" b="0">
                <a:solidFill>
                  <a:srgbClr val="E5E7EB"/>
                </a:solidFill>
                <a:latin typeface="Segoe UI"/>
              </a:rPr>
              <a:t>• Lit APPLICATIONINSIGHTS_CONNECTION_STRING depuis la configuration</a:t>
            </a:r>
          </a:p>
          <a:p>
            <a:pPr>
              <a:defRPr sz="1800" b="0">
                <a:solidFill>
                  <a:srgbClr val="E5E7EB"/>
                </a:solidFill>
                <a:latin typeface="Segoe UI"/>
              </a:defRPr>
            </a:pPr>
            <a:r>
              <a:rPr sz="1800" b="0">
                <a:solidFill>
                  <a:srgbClr val="E5E7EB"/>
                </a:solidFill>
                <a:latin typeface="Segoe UI"/>
              </a:rPr>
              <a:t>• Requêtes, dépendances, exceptions et traces — sans code additionnel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Instrumentation API + SQL</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Le même SDK AI sur Mapaq.Api</a:t>
            </a:r>
          </a:p>
          <a:p>
            <a:pPr>
              <a:defRPr sz="1800" b="0">
                <a:solidFill>
                  <a:srgbClr val="E5E7EB"/>
                </a:solidFill>
                <a:latin typeface="Segoe UI"/>
              </a:defRPr>
            </a:pPr>
            <a:r>
              <a:rPr sz="1800" b="0">
                <a:solidFill>
                  <a:srgbClr val="E5E7EB"/>
                </a:solidFill>
                <a:latin typeface="Segoe UI"/>
              </a:rPr>
              <a:t>• Les appels SQL EF Core 10 sont suivis comme dépendances SqlClient</a:t>
            </a:r>
          </a:p>
          <a:p>
            <a:pPr>
              <a:defRPr sz="1800" b="0">
                <a:solidFill>
                  <a:srgbClr val="E5E7EB"/>
                </a:solidFill>
                <a:latin typeface="Segoe UI"/>
              </a:defRPr>
            </a:pPr>
            <a:r>
              <a:rPr sz="1800" b="0">
                <a:solidFill>
                  <a:srgbClr val="E5E7EB"/>
                </a:solidFill>
                <a:latin typeface="Segoe UI"/>
              </a:rPr>
              <a:t>• HttpClientFactory propage traceparent vers les appels en aval</a:t>
            </a:r>
          </a:p>
          <a:p>
            <a:pPr>
              <a:defRPr sz="1800" b="0">
                <a:solidFill>
                  <a:srgbClr val="E5E7EB"/>
                </a:solidFill>
                <a:latin typeface="Segoe UI"/>
              </a:defRPr>
            </a:pPr>
            <a:r>
              <a:rPr sz="1800" b="0">
                <a:solidFill>
                  <a:srgbClr val="E5E7EB"/>
                </a:solidFill>
                <a:latin typeface="Segoe UI"/>
              </a:rPr>
              <a:t>• Événements personnalisés : TelemetryClient.TrackEvent avec dimensions personnalisées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W3C Trace Context — traceparent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Format : 00-{trace-id}-{parent-id}-{flags}</a:t>
            </a:r>
          </a:p>
          <a:p>
            <a:pPr>
              <a:defRPr sz="1800" b="0">
                <a:solidFill>
                  <a:srgbClr val="E5E7EB"/>
                </a:solidFill>
                <a:latin typeface="Segoe UI"/>
              </a:defRPr>
            </a:pPr>
            <a:r>
              <a:rPr sz="1800" b="0">
                <a:solidFill>
                  <a:srgbClr val="E5E7EB"/>
                </a:solidFill>
                <a:latin typeface="Segoe UI"/>
              </a:rPr>
              <a:t>• Le SDK navigateur démarre la trace et émet l'en-tête sur chaque fetch/XHR</a:t>
            </a:r>
          </a:p>
          <a:p>
            <a:pPr>
              <a:defRPr sz="1800" b="0">
                <a:solidFill>
                  <a:srgbClr val="E5E7EB"/>
                </a:solidFill>
                <a:latin typeface="Segoe UI"/>
              </a:defRPr>
            </a:pPr>
            <a:r>
              <a:rPr sz="1800" b="0">
                <a:solidFill>
                  <a:srgbClr val="E5E7EB"/>
                </a:solidFill>
                <a:latin typeface="Segoe UI"/>
              </a:rPr>
              <a:t>• ASP.NET Core l'honore et le transmet automatiquement</a:t>
            </a:r>
          </a:p>
          <a:p>
            <a:pPr>
              <a:defRPr sz="1800" b="0">
                <a:solidFill>
                  <a:srgbClr val="E5E7EB"/>
                </a:solidFill>
                <a:latin typeface="Segoe UI"/>
              </a:defRPr>
            </a:pPr>
            <a:r>
              <a:rPr sz="1800" b="0">
                <a:solidFill>
                  <a:srgbClr val="E5E7EB"/>
                </a:solidFill>
                <a:latin typeface="Segoe UI"/>
              </a:rPr>
              <a:t>• Résultat : un seul operation_Id relie les quatre spans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Trace de bout en bout — la pièce maîtresse</a:t>
            </a:r>
          </a:p>
        </p:txBody>
      </p:sp>
      <p:pic>
        <p:nvPicPr>
          <p:cNvPr id="4" name="Picture 3" descr="e2e-trace-fr.png"/>
          <p:cNvPicPr>
            <a:picLocks noChangeAspect="1"/>
          </p:cNvPicPr>
          <p:nvPr/>
        </p:nvPicPr>
        <p:blipFill>
          <a:blip r:embed="rId3"/>
          <a:stretch>
            <a:fillRect/>
          </a:stretch>
        </p:blipFill>
        <p:spPr>
          <a:xfrm>
            <a:off x="548640" y="1828800"/>
            <a:ext cx="11064240" cy="686745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Corrélation navigateur</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Ajouter le SDK JavaScript Application Insights à _Layout.cshtml</a:t>
            </a:r>
          </a:p>
          <a:p>
            <a:pPr>
              <a:defRPr sz="1800" b="0">
                <a:solidFill>
                  <a:srgbClr val="E5E7EB"/>
                </a:solidFill>
                <a:latin typeface="Segoe UI"/>
              </a:defRPr>
            </a:pPr>
            <a:r>
              <a:rPr sz="1800" b="0">
                <a:solidFill>
                  <a:srgbClr val="E5E7EB"/>
                </a:solidFill>
                <a:latin typeface="Segoe UI"/>
              </a:rPr>
              <a:t>• Passer la chaîne de connexion via ViewData côté serveur — jamais en dur</a:t>
            </a:r>
          </a:p>
          <a:p>
            <a:pPr>
              <a:defRPr sz="1800" b="0">
                <a:solidFill>
                  <a:srgbClr val="E5E7EB"/>
                </a:solidFill>
                <a:latin typeface="Segoe UI"/>
              </a:defRPr>
            </a:pPr>
            <a:r>
              <a:rPr sz="1800" b="0">
                <a:solidFill>
                  <a:srgbClr val="E5E7EB"/>
                </a:solidFill>
                <a:latin typeface="Segoe UI"/>
              </a:rPr>
              <a:t>• enableCorsCorrelation: true et enableRequestHeaderTracking: true</a:t>
            </a:r>
          </a:p>
          <a:p>
            <a:pPr>
              <a:defRPr sz="1800" b="0">
                <a:solidFill>
                  <a:srgbClr val="E5E7EB"/>
                </a:solidFill>
                <a:latin typeface="Segoe UI"/>
              </a:defRPr>
            </a:pPr>
            <a:r>
              <a:rPr sz="1800" b="0">
                <a:solidFill>
                  <a:srgbClr val="E5E7EB"/>
                </a:solidFill>
                <a:latin typeface="Segoe UI"/>
              </a:rPr>
              <a:t>• distributedTracingMode: AI_AND_W3C pour émettre traceparent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SDK navigateur — configuration minimale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Utiliser connectionString (instrumentationKey est déprécié)</a:t>
            </a:r>
          </a:p>
          <a:p>
            <a:pPr>
              <a:defRPr sz="1800" b="0">
                <a:solidFill>
                  <a:srgbClr val="E5E7EB"/>
                </a:solidFill>
                <a:latin typeface="Segoe UI"/>
              </a:defRPr>
            </a:pPr>
            <a:r>
              <a:rPr sz="1800" b="0">
                <a:solidFill>
                  <a:srgbClr val="E5E7EB"/>
                </a:solidFill>
                <a:latin typeface="Segoe UI"/>
              </a:rPr>
              <a:t>• enableAutoRouteTracking: true pour la navigation type SPA</a:t>
            </a:r>
          </a:p>
          <a:p>
            <a:pPr>
              <a:defRPr sz="1800" b="0">
                <a:solidFill>
                  <a:srgbClr val="E5E7EB"/>
                </a:solidFill>
                <a:latin typeface="Segoe UI"/>
              </a:defRPr>
            </a:pPr>
            <a:r>
              <a:rPr sz="1800" b="0">
                <a:solidFill>
                  <a:srgbClr val="E5E7EB"/>
                </a:solidFill>
                <a:latin typeface="Segoe UI"/>
              </a:rPr>
              <a:t>• correlationHeaderExcludedDomains pour les hôtes tiers</a:t>
            </a:r>
          </a:p>
          <a:p>
            <a:pPr>
              <a:defRPr sz="1800" b="0">
                <a:solidFill>
                  <a:srgbClr val="E5E7EB"/>
                </a:solidFill>
                <a:latin typeface="Segoe UI"/>
              </a:defRPr>
            </a:pPr>
            <a:r>
              <a:rPr sz="1800" b="0">
                <a:solidFill>
                  <a:srgbClr val="E5E7EB"/>
                </a:solidFill>
                <a:latin typeface="Segoe UI"/>
              </a:rPr>
              <a:t>• samplingPercentage: 100 en dev, plus bas en prod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Module 6 — Application Insights, l'heure d'approfondissement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Live Metrics — le pouls en temps réel</a:t>
            </a:r>
          </a:p>
          <a:p>
            <a:pPr>
              <a:defRPr sz="1800" b="0">
                <a:solidFill>
                  <a:srgbClr val="E5E7EB"/>
                </a:solidFill>
                <a:latin typeface="Segoe UI"/>
              </a:defRPr>
            </a:pPr>
            <a:r>
              <a:rPr sz="1800" b="0">
                <a:solidFill>
                  <a:srgbClr val="E5E7EB"/>
                </a:solidFill>
                <a:latin typeface="Segoe UI"/>
              </a:rPr>
              <a:t>• Recherche de transactions et vue de transaction de bout en bout</a:t>
            </a:r>
          </a:p>
          <a:p>
            <a:pPr>
              <a:defRPr sz="1800" b="0">
                <a:solidFill>
                  <a:srgbClr val="E5E7EB"/>
                </a:solidFill>
                <a:latin typeface="Segoe UI"/>
              </a:defRPr>
            </a:pPr>
            <a:r>
              <a:rPr sz="1800" b="0">
                <a:solidFill>
                  <a:srgbClr val="E5E7EB"/>
                </a:solidFill>
                <a:latin typeface="Segoe UI"/>
              </a:rPr>
              <a:t>• Carte d'application — topologie auto-découverte</a:t>
            </a:r>
          </a:p>
          <a:p>
            <a:pPr>
              <a:defRPr sz="1800" b="0">
                <a:solidFill>
                  <a:srgbClr val="E5E7EB"/>
                </a:solidFill>
                <a:latin typeface="Segoe UI"/>
              </a:defRPr>
            </a:pPr>
            <a:r>
              <a:rPr sz="1800" b="0">
                <a:solidFill>
                  <a:srgbClr val="E5E7EB"/>
                </a:solidFill>
                <a:latin typeface="Segoe UI"/>
              </a:rPr>
              <a:t>• Échecs et Performance — triage par symptôme</a:t>
            </a:r>
          </a:p>
          <a:p>
            <a:pPr>
              <a:defRPr sz="1800" b="0">
                <a:solidFill>
                  <a:srgbClr val="E5E7EB"/>
                </a:solidFill>
                <a:latin typeface="Segoe UI"/>
              </a:defRPr>
            </a:pPr>
            <a:r>
              <a:rPr sz="1800" b="0">
                <a:solidFill>
                  <a:srgbClr val="E5E7EB"/>
                </a:solidFill>
                <a:latin typeface="Segoe UI"/>
              </a:rPr>
              <a:t>• Journaux (KQL) · Classeurs · Éléments de travail · Journalisation locale + distante · Alertes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Live Metrics — qui plaît à la salle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Latence sous la seconde de l'app au portail</a:t>
            </a:r>
          </a:p>
          <a:p>
            <a:pPr>
              <a:defRPr sz="1800" b="0">
                <a:solidFill>
                  <a:srgbClr val="E5E7EB"/>
                </a:solidFill>
                <a:latin typeface="Segoe UI"/>
              </a:defRPr>
            </a:pPr>
            <a:r>
              <a:rPr sz="1800" b="0">
                <a:solidFill>
                  <a:srgbClr val="E5E7EB"/>
                </a:solidFill>
                <a:latin typeface="Segoe UI"/>
              </a:rPr>
              <a:t>• Le flux n'est pas persisté — l'échantillonnage ne s'applique pas</a:t>
            </a:r>
          </a:p>
          <a:p>
            <a:pPr>
              <a:defRPr sz="1800" b="0">
                <a:solidFill>
                  <a:srgbClr val="E5E7EB"/>
                </a:solidFill>
                <a:latin typeface="Segoe UI"/>
              </a:defRPr>
            </a:pPr>
            <a:r>
              <a:rPr sz="1800" b="0">
                <a:solidFill>
                  <a:srgbClr val="E5E7EB"/>
                </a:solidFill>
                <a:latin typeface="Segoe UI"/>
              </a:rPr>
              <a:t>• Filtrer par cloud_RoleName pour isoler Mapaq.Api</a:t>
            </a:r>
          </a:p>
          <a:p>
            <a:pPr>
              <a:defRPr sz="1800" b="0">
                <a:solidFill>
                  <a:srgbClr val="E5E7EB"/>
                </a:solidFill>
                <a:latin typeface="Segoe UI"/>
              </a:defRPr>
            </a:pPr>
            <a:r>
              <a:rPr sz="1800" b="0">
                <a:solidFill>
                  <a:srgbClr val="E5E7EB"/>
                </a:solidFill>
                <a:latin typeface="Segoe UI"/>
              </a:rPr>
              <a:t>• Idéal pour les démos et le suivi de déploiement; ne remplace pas les alertes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Recherche de transactions et vue de bout en bout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Rechercher chaque requête, dépendance, exception, trace et pageView</a:t>
            </a:r>
          </a:p>
          <a:p>
            <a:pPr>
              <a:defRPr sz="1800" b="0">
                <a:solidFill>
                  <a:srgbClr val="E5E7EB"/>
                </a:solidFill>
                <a:latin typeface="Segoe UI"/>
              </a:defRPr>
            </a:pPr>
            <a:r>
              <a:rPr sz="1800" b="0">
                <a:solidFill>
                  <a:srgbClr val="E5E7EB"/>
                </a:solidFill>
                <a:latin typeface="Segoe UI"/>
              </a:rPr>
              <a:t>• Cliquer une requête pour ouvrir la transaction de bout en bout</a:t>
            </a:r>
          </a:p>
          <a:p>
            <a:pPr>
              <a:defRPr sz="1800" b="0">
                <a:solidFill>
                  <a:srgbClr val="E5E7EB"/>
                </a:solidFill>
                <a:latin typeface="Segoe UI"/>
              </a:defRPr>
            </a:pPr>
            <a:r>
              <a:rPr sz="1800" b="0">
                <a:solidFill>
                  <a:srgbClr val="E5E7EB"/>
                </a:solidFill>
                <a:latin typeface="Segoe UI"/>
              </a:rPr>
              <a:t>• Voir la cascade : navigateur → web → API → SQL sous un seul operation_Id</a:t>
            </a:r>
          </a:p>
          <a:p>
            <a:pPr>
              <a:defRPr sz="1800" b="0">
                <a:solidFill>
                  <a:srgbClr val="E5E7EB"/>
                </a:solidFill>
                <a:latin typeface="Segoe UI"/>
              </a:defRPr>
            </a:pPr>
            <a:r>
              <a:rPr sz="1800" b="0">
                <a:solidFill>
                  <a:srgbClr val="E5E7EB"/>
                </a:solidFill>
                <a:latin typeface="Segoe UI"/>
              </a:rPr>
              <a:t>• Plonger dans une dépendance SQL pour voir la commande et la durée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Carte d'application</a:t>
            </a:r>
          </a:p>
        </p:txBody>
      </p:sp>
      <p:pic>
        <p:nvPicPr>
          <p:cNvPr id="4" name="Picture 3" descr="application-map-fr.png"/>
          <p:cNvPicPr>
            <a:picLocks noChangeAspect="1"/>
          </p:cNvPicPr>
          <p:nvPr/>
        </p:nvPicPr>
        <p:blipFill>
          <a:blip r:embed="rId3"/>
          <a:stretch>
            <a:fillRect/>
          </a:stretch>
        </p:blipFill>
        <p:spPr>
          <a:xfrm>
            <a:off x="548640" y="1828800"/>
            <a:ext cx="11064240" cy="107943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Panneaux Échecs et Performance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Échecs — opérations en échec, codes de réponse, types d'exception</a:t>
            </a:r>
          </a:p>
          <a:p>
            <a:pPr>
              <a:defRPr sz="1800" b="0">
                <a:solidFill>
                  <a:srgbClr val="E5E7EB"/>
                </a:solidFill>
                <a:latin typeface="Segoe UI"/>
              </a:defRPr>
            </a:pPr>
            <a:r>
              <a:rPr sz="1800" b="0">
                <a:solidFill>
                  <a:srgbClr val="E5E7EB"/>
                </a:solidFill>
                <a:latin typeface="Segoe UI"/>
              </a:rPr>
              <a:t>• Performance — opérations les plus lentes, durée des dépendances, p50/p95/p99</a:t>
            </a:r>
          </a:p>
          <a:p>
            <a:pPr>
              <a:defRPr sz="1800" b="0">
                <a:solidFill>
                  <a:srgbClr val="E5E7EB"/>
                </a:solidFill>
                <a:latin typeface="Segoe UI"/>
              </a:defRPr>
            </a:pPr>
            <a:r>
              <a:rPr sz="1800" b="0">
                <a:solidFill>
                  <a:srgbClr val="E5E7EB"/>
                </a:solidFill>
                <a:latin typeface="Segoe UI"/>
              </a:rPr>
              <a:t>• Passer d'un agrégat directement aux transactions échantillons</a:t>
            </a:r>
          </a:p>
          <a:p>
            <a:pPr>
              <a:defRPr sz="1800" b="0">
                <a:solidFill>
                  <a:srgbClr val="E5E7EB"/>
                </a:solidFill>
                <a:latin typeface="Segoe UI"/>
              </a:defRPr>
            </a:pPr>
            <a:r>
              <a:rPr sz="1800" b="0">
                <a:solidFill>
                  <a:srgbClr val="E5E7EB"/>
                </a:solidFill>
                <a:latin typeface="Segoe UI"/>
              </a:rPr>
              <a:t>• Trier par impact utilisateur d'abord, puis par cause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Journaux (KQL) — une requête, un operation_Id</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Ouvrir le panneau Journaux sur la ressource App Insights</a:t>
            </a:r>
          </a:p>
          <a:p>
            <a:pPr>
              <a:defRPr sz="1800" b="0">
                <a:solidFill>
                  <a:srgbClr val="E5E7EB"/>
                </a:solidFill>
                <a:latin typeface="Segoe UI"/>
              </a:defRPr>
            </a:pPr>
            <a:r>
              <a:rPr sz="1800" b="0">
                <a:solidFill>
                  <a:srgbClr val="E5E7EB"/>
                </a:solidFill>
                <a:latin typeface="Segoe UI"/>
              </a:rPr>
              <a:t>• union requests, dependencies, pageViews</a:t>
            </a:r>
          </a:p>
          <a:p>
            <a:pPr>
              <a:defRPr sz="1800" b="0">
                <a:solidFill>
                  <a:srgbClr val="E5E7EB"/>
                </a:solidFill>
                <a:latin typeface="Segoe UI"/>
              </a:defRPr>
            </a:pPr>
            <a:r>
              <a:rPr sz="1800" b="0">
                <a:solidFill>
                  <a:srgbClr val="E5E7EB"/>
                </a:solidFill>
                <a:latin typeface="Segoe UI"/>
              </a:rPr>
              <a:t>• Filtrer par operation_Id, projeter les colonnes clés, trier par temps</a:t>
            </a:r>
          </a:p>
          <a:p>
            <a:pPr>
              <a:defRPr sz="1800" b="0">
                <a:solidFill>
                  <a:srgbClr val="E5E7EB"/>
                </a:solidFill>
                <a:latin typeface="Segoe UI"/>
              </a:defRPr>
            </a:pPr>
            <a:r>
              <a:rPr sz="1800" b="0">
                <a:solidFill>
                  <a:srgbClr val="E5E7EB"/>
                </a:solidFill>
                <a:latin typeface="Segoe UI"/>
              </a:rPr>
              <a:t>• Le résultat est la même cascade, en données qu'on peut grapher et exporter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Requête KQL — à copier / coller</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union requests, dependencies, pageViews</a:t>
            </a:r>
          </a:p>
          <a:p>
            <a:pPr>
              <a:defRPr sz="1800" b="0">
                <a:solidFill>
                  <a:srgbClr val="E5E7EB"/>
                </a:solidFill>
                <a:latin typeface="Segoe UI"/>
              </a:defRPr>
            </a:pPr>
            <a:r>
              <a:rPr sz="1800" b="0">
                <a:solidFill>
                  <a:srgbClr val="E5E7EB"/>
                </a:solidFill>
                <a:latin typeface="Segoe UI"/>
              </a:rPr>
              <a:t>• | where operation_Id == 'COLLER-OPERATION-ID'</a:t>
            </a:r>
          </a:p>
          <a:p>
            <a:pPr>
              <a:defRPr sz="1800" b="0">
                <a:solidFill>
                  <a:srgbClr val="E5E7EB"/>
                </a:solidFill>
                <a:latin typeface="Segoe UI"/>
              </a:defRPr>
            </a:pPr>
            <a:r>
              <a:rPr sz="1800" b="0">
                <a:solidFill>
                  <a:srgbClr val="E5E7EB"/>
                </a:solidFill>
                <a:latin typeface="Segoe UI"/>
              </a:rPr>
              <a:t>• | project timestamp, itemType, name, duration, success, target</a:t>
            </a:r>
          </a:p>
          <a:p>
            <a:pPr>
              <a:defRPr sz="1800" b="0">
                <a:solidFill>
                  <a:srgbClr val="E5E7EB"/>
                </a:solidFill>
                <a:latin typeface="Segoe UI"/>
              </a:defRPr>
            </a:pPr>
            <a:r>
              <a:rPr sz="1800" b="0">
                <a:solidFill>
                  <a:srgbClr val="E5E7EB"/>
                </a:solidFill>
                <a:latin typeface="Segoe UI"/>
              </a:rPr>
              <a:t>• | order by timestamp asc</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Classeurs — tableaux de bord partageables</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Classeur pré-construit : volume 24 h, latence p95, % d'échec, top dépendances</a:t>
            </a:r>
          </a:p>
          <a:p>
            <a:pPr>
              <a:defRPr sz="1800" b="0">
                <a:solidFill>
                  <a:srgbClr val="E5E7EB"/>
                </a:solidFill>
                <a:latin typeface="Segoe UI"/>
              </a:defRPr>
            </a:pPr>
            <a:r>
              <a:rPr sz="1800" b="0">
                <a:solidFill>
                  <a:srgbClr val="E5E7EB"/>
                </a:solidFill>
                <a:latin typeface="Segoe UI"/>
              </a:rPr>
              <a:t>• Paramétré par nom de rôle et plage de temps</a:t>
            </a:r>
          </a:p>
          <a:p>
            <a:pPr>
              <a:defRPr sz="1800" b="0">
                <a:solidFill>
                  <a:srgbClr val="E5E7EB"/>
                </a:solidFill>
                <a:latin typeface="Segoe UI"/>
              </a:defRPr>
            </a:pPr>
            <a:r>
              <a:rPr sz="1800" b="0">
                <a:solidFill>
                  <a:srgbClr val="E5E7EB"/>
                </a:solidFill>
                <a:latin typeface="Segoe UI"/>
              </a:rPr>
              <a:t>• Mélange KQL, métriques, texte et paramètres dans un document</a:t>
            </a:r>
          </a:p>
          <a:p>
            <a:pPr>
              <a:defRPr sz="1800" b="0">
                <a:solidFill>
                  <a:srgbClr val="E5E7EB"/>
                </a:solidFill>
                <a:latin typeface="Segoe UI"/>
              </a:defRPr>
            </a:pPr>
            <a:r>
              <a:rPr sz="1800" b="0">
                <a:solidFill>
                  <a:srgbClr val="E5E7EB"/>
                </a:solidFill>
                <a:latin typeface="Segoe UI"/>
              </a:rPr>
              <a:t>• Importable en JSON — pas besoin de Power BI</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Créer des éléments de travail depuis Application Insights</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Configurer une intégration d'éléments de travail (Azure DevOps / GitHub)</a:t>
            </a:r>
          </a:p>
          <a:p>
            <a:pPr>
              <a:defRPr sz="1800" b="0">
                <a:solidFill>
                  <a:srgbClr val="E5E7EB"/>
                </a:solidFill>
                <a:latin typeface="Segoe UI"/>
              </a:defRPr>
            </a:pPr>
            <a:r>
              <a:rPr sz="1800" b="0">
                <a:solidFill>
                  <a:srgbClr val="E5E7EB"/>
                </a:solidFill>
                <a:latin typeface="Segoe UI"/>
              </a:rPr>
              <a:t>• Depuis un échec ou une transaction, cliquer « Créer un élément de travail »</a:t>
            </a:r>
          </a:p>
          <a:p>
            <a:pPr>
              <a:defRPr sz="1800" b="0">
                <a:solidFill>
                  <a:srgbClr val="E5E7EB"/>
                </a:solidFill>
                <a:latin typeface="Segoe UI"/>
              </a:defRPr>
            </a:pPr>
            <a:r>
              <a:rPr sz="1800" b="0">
                <a:solidFill>
                  <a:srgbClr val="E5E7EB"/>
                </a:solidFill>
                <a:latin typeface="Segoe UI"/>
              </a:rPr>
              <a:t>• Le contexte de télémétrie (operation_Id, pile, version) est joint</a:t>
            </a:r>
          </a:p>
          <a:p>
            <a:pPr>
              <a:defRPr sz="1800" b="0">
                <a:solidFill>
                  <a:srgbClr val="E5E7EB"/>
                </a:solidFill>
                <a:latin typeface="Segoe UI"/>
              </a:defRPr>
            </a:pPr>
            <a:r>
              <a:rPr sz="1800" b="0">
                <a:solidFill>
                  <a:srgbClr val="E5E7EB"/>
                </a:solidFill>
                <a:latin typeface="Segoe UI"/>
              </a:rPr>
              <a:t>• Boucle complète : détecter → déclarer → corriger → vérifier</a:t>
            </a:r>
          </a:p>
          <a:p>
            <a:pPr>
              <a:defRPr sz="1800" b="0">
                <a:solidFill>
                  <a:srgbClr val="E5E7EB"/>
                </a:solidFill>
                <a:latin typeface="Segoe UI"/>
              </a:defRPr>
            </a:pPr>
            <a:r>
              <a:rPr sz="1800" b="0">
                <a:solidFill>
                  <a:srgbClr val="E5E7EB"/>
                </a:solidFill>
                <a:latin typeface="Segoe UI"/>
              </a:rPr>
              <a:t>• Notre flux ADO : Epic → Feature → User Story/Bug, étiquette « Agentic AI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Journalisation locale vs distante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Locale : console ILogger + Flux de journaux App Service pour un retour rapide</a:t>
            </a:r>
          </a:p>
          <a:p>
            <a:pPr>
              <a:defRPr sz="1800" b="0">
                <a:solidFill>
                  <a:srgbClr val="E5E7EB"/>
                </a:solidFill>
                <a:latin typeface="Segoe UI"/>
              </a:defRPr>
            </a:pPr>
            <a:r>
              <a:rPr sz="1800" b="0">
                <a:solidFill>
                  <a:srgbClr val="E5E7EB"/>
                </a:solidFill>
                <a:latin typeface="Segoe UI"/>
              </a:rPr>
              <a:t>• Distante : ILogger → Application Insights en traces (durable, interrogeable)</a:t>
            </a:r>
          </a:p>
          <a:p>
            <a:pPr>
              <a:defRPr sz="1800" b="0">
                <a:solidFill>
                  <a:srgbClr val="E5E7EB"/>
                </a:solidFill>
                <a:latin typeface="Segoe UI"/>
              </a:defRPr>
            </a:pPr>
            <a:r>
              <a:rPr sz="1800" b="0">
                <a:solidFill>
                  <a:srgbClr val="E5E7EB"/>
                </a:solidFill>
                <a:latin typeface="Segoe UI"/>
              </a:rPr>
              <a:t>• Journalisation structurée — les propriétés deviennent des dimensions en KQL</a:t>
            </a:r>
          </a:p>
          <a:p>
            <a:pPr>
              <a:defRPr sz="1800" b="0">
                <a:solidFill>
                  <a:srgbClr val="E5E7EB"/>
                </a:solidFill>
                <a:latin typeface="Segoe UI"/>
              </a:defRPr>
            </a:pPr>
            <a:r>
              <a:rPr sz="1800" b="0">
                <a:solidFill>
                  <a:srgbClr val="E5E7EB"/>
                </a:solidFill>
                <a:latin typeface="Segoe UI"/>
              </a:rPr>
              <a:t>• Corrélation : les journaux portent le même operation_Id que la requête</a:t>
            </a:r>
          </a:p>
          <a:p>
            <a:pPr>
              <a:defRPr sz="1800" b="0">
                <a:solidFill>
                  <a:srgbClr val="E5E7EB"/>
                </a:solidFill>
                <a:latin typeface="Segoe UI"/>
              </a:defRPr>
            </a:pPr>
            <a:r>
              <a:rPr sz="1800" b="0">
                <a:solidFill>
                  <a:srgbClr val="E5E7EB"/>
                </a:solidFill>
                <a:latin typeface="Segoe UI"/>
              </a:rPr>
              <a:t>• Régler les niveaux via appsettings + le LoggerProvider ApplicationInsights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Alertes et détection intelligentes</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Smart Detection trouve automatiquement les anomalies de taux d'échec et de latence</a:t>
            </a:r>
          </a:p>
          <a:p>
            <a:pPr>
              <a:defRPr sz="1800" b="0">
                <a:solidFill>
                  <a:srgbClr val="E5E7EB"/>
                </a:solidFill>
                <a:latin typeface="Segoe UI"/>
              </a:defRPr>
            </a:pPr>
            <a:r>
              <a:rPr sz="1800" b="0">
                <a:solidFill>
                  <a:srgbClr val="E5E7EB"/>
                </a:solidFill>
                <a:latin typeface="Segoe UI"/>
              </a:rPr>
              <a:t>• Alertes de métrique sur disponibilité, temps de réponse, requêtes en échec</a:t>
            </a:r>
          </a:p>
          <a:p>
            <a:pPr>
              <a:defRPr sz="1800" b="0">
                <a:solidFill>
                  <a:srgbClr val="E5E7EB"/>
                </a:solidFill>
                <a:latin typeface="Segoe UI"/>
              </a:defRPr>
            </a:pPr>
            <a:r>
              <a:rPr sz="1800" b="0">
                <a:solidFill>
                  <a:srgbClr val="E5E7EB"/>
                </a:solidFill>
                <a:latin typeface="Segoe UI"/>
              </a:rPr>
              <a:t>• Groupes d'actions → courriel, SMS, Teams/webhook ou automatisation</a:t>
            </a:r>
          </a:p>
          <a:p>
            <a:pPr>
              <a:defRPr sz="1800" b="0">
                <a:solidFill>
                  <a:srgbClr val="E5E7EB"/>
                </a:solidFill>
                <a:latin typeface="Segoe UI"/>
              </a:defRPr>
            </a:pPr>
            <a:r>
              <a:rPr sz="1800" b="0">
                <a:solidFill>
                  <a:srgbClr val="E5E7EB"/>
                </a:solidFill>
                <a:latin typeface="Segoe UI"/>
              </a:rPr>
              <a:t>• Alerter sur les symptômes (impact utilisateur), pas seulement les causes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Démo — App Insights, quoi montrer</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1 · Live Metrics pendant que la salle charge l'app</a:t>
            </a:r>
          </a:p>
          <a:p>
            <a:pPr>
              <a:defRPr sz="1800" b="0">
                <a:solidFill>
                  <a:srgbClr val="E5E7EB"/>
                </a:solidFill>
                <a:latin typeface="Segoe UI"/>
              </a:defRPr>
            </a:pPr>
            <a:r>
              <a:rPr sz="1800" b="0">
                <a:solidFill>
                  <a:srgbClr val="E5E7EB"/>
                </a:solidFill>
                <a:latin typeface="Segoe UI"/>
              </a:rPr>
              <a:t>• 2 · Recherche de transactions → cascade de bout en bout</a:t>
            </a:r>
          </a:p>
          <a:p>
            <a:pPr>
              <a:defRPr sz="1800" b="0">
                <a:solidFill>
                  <a:srgbClr val="E5E7EB"/>
                </a:solidFill>
                <a:latin typeface="Segoe UI"/>
              </a:defRPr>
            </a:pPr>
            <a:r>
              <a:rPr sz="1800" b="0">
                <a:solidFill>
                  <a:srgbClr val="E5E7EB"/>
                </a:solidFill>
                <a:latin typeface="Segoe UI"/>
              </a:rPr>
              <a:t>• 3 · Carte d'application → cliquer le nœud SQL</a:t>
            </a:r>
          </a:p>
          <a:p>
            <a:pPr>
              <a:defRPr sz="1800" b="0">
                <a:solidFill>
                  <a:srgbClr val="E5E7EB"/>
                </a:solidFill>
                <a:latin typeface="Segoe UI"/>
              </a:defRPr>
            </a:pPr>
            <a:r>
              <a:rPr sz="1800" b="0">
                <a:solidFill>
                  <a:srgbClr val="E5E7EB"/>
                </a:solidFill>
                <a:latin typeface="Segoe UI"/>
              </a:rPr>
              <a:t>• 4 · Échecs → plonger dans une exception → créer un élément de travail</a:t>
            </a:r>
          </a:p>
          <a:p>
            <a:pPr>
              <a:defRPr sz="1800" b="0">
                <a:solidFill>
                  <a:srgbClr val="E5E7EB"/>
                </a:solidFill>
                <a:latin typeface="Segoe UI"/>
              </a:defRPr>
            </a:pPr>
            <a:r>
              <a:rPr sz="1800" b="0">
                <a:solidFill>
                  <a:srgbClr val="E5E7EB"/>
                </a:solidFill>
                <a:latin typeface="Segoe UI"/>
              </a:rPr>
              <a:t>• 5 · Journaux (KQL) → classeur → une alerte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Contrôle des coûts — pas de surprises</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Plafond quotidien sur la ressource App Insights pour l'atelier</a:t>
            </a:r>
          </a:p>
          <a:p>
            <a:pPr>
              <a:defRPr sz="1800" b="0">
                <a:solidFill>
                  <a:srgbClr val="E5E7EB"/>
                </a:solidFill>
                <a:latin typeface="Segoe UI"/>
              </a:defRPr>
            </a:pPr>
            <a:r>
              <a:rPr sz="1800" b="0">
                <a:solidFill>
                  <a:srgbClr val="E5E7EB"/>
                </a:solidFill>
                <a:latin typeface="Segoe UI"/>
              </a:rPr>
              <a:t>• Échantillonnage : 100 % en dev, 10–25 % typique en prod</a:t>
            </a:r>
          </a:p>
          <a:p>
            <a:pPr>
              <a:defRPr sz="1800" b="0">
                <a:solidFill>
                  <a:srgbClr val="E5E7EB"/>
                </a:solidFill>
                <a:latin typeface="Segoe UI"/>
              </a:defRPr>
            </a:pPr>
            <a:r>
              <a:rPr sz="1800" b="0">
                <a:solidFill>
                  <a:srgbClr val="E5E7EB"/>
                </a:solidFill>
                <a:latin typeface="Segoe UI"/>
              </a:rPr>
              <a:t>• L'AI basé sur espace de travail utilise les niveaux d'engagement Log Analytics</a:t>
            </a:r>
          </a:p>
          <a:p>
            <a:pPr>
              <a:defRPr sz="1800" b="0">
                <a:solidFill>
                  <a:srgbClr val="E5E7EB"/>
                </a:solidFill>
                <a:latin typeface="Segoe UI"/>
              </a:defRPr>
            </a:pPr>
            <a:r>
              <a:rPr sz="1800" b="0">
                <a:solidFill>
                  <a:srgbClr val="E5E7EB"/>
                </a:solidFill>
                <a:latin typeface="Segoe UI"/>
              </a:rPr>
              <a:t>• Bien dimensionner le plan App Service; réduire quand inactif</a:t>
            </a:r>
          </a:p>
          <a:p>
            <a:pPr>
              <a:defRPr sz="1800" b="0">
                <a:solidFill>
                  <a:srgbClr val="E5E7EB"/>
                </a:solidFill>
                <a:latin typeface="Segoe UI"/>
              </a:defRPr>
            </a:pPr>
            <a:r>
              <a:rPr sz="1800" b="0">
                <a:solidFill>
                  <a:srgbClr val="E5E7EB"/>
                </a:solidFill>
                <a:latin typeface="Segoe UI"/>
              </a:rPr>
              <a:t>• Étiqueter tout pour découper la facturation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Liste de dépannage</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Pas de télémétrie ? Vérifier APPLICATIONINSIGHTS_CONNECTION_STRING dans App settings</a:t>
            </a:r>
          </a:p>
          <a:p>
            <a:pPr>
              <a:defRPr sz="1800" b="0">
                <a:solidFill>
                  <a:srgbClr val="E5E7EB"/>
                </a:solidFill>
                <a:latin typeface="Segoe UI"/>
              </a:defRPr>
            </a:pPr>
            <a:r>
              <a:rPr sz="1800" b="0">
                <a:solidFill>
                  <a:srgbClr val="E5E7EB"/>
                </a:solidFill>
                <a:latin typeface="Segoe UI"/>
              </a:rPr>
              <a:t>• Ingestion par identité en échec ? Vérifier AZURE_CLIENT_ID + AUTHENTICATION_STRING + attribution de rôle</a:t>
            </a:r>
          </a:p>
          <a:p>
            <a:pPr>
              <a:defRPr sz="1800" b="0">
                <a:solidFill>
                  <a:srgbClr val="E5E7EB"/>
                </a:solidFill>
                <a:latin typeface="Segoe UI"/>
              </a:defRPr>
            </a:pPr>
            <a:r>
              <a:rPr sz="1800" b="0">
                <a:solidFill>
                  <a:srgbClr val="E5E7EB"/>
                </a:solidFill>
                <a:latin typeface="Segoe UI"/>
              </a:rPr>
              <a:t>• Conteneur ne démarre pas ? Confirmer WEBSITES_PORT et l'étiquette d'image dans le Centre de déploiement</a:t>
            </a:r>
          </a:p>
          <a:p>
            <a:pPr>
              <a:defRPr sz="1800" b="0">
                <a:solidFill>
                  <a:srgbClr val="E5E7EB"/>
                </a:solidFill>
                <a:latin typeface="Segoe UI"/>
              </a:defRPr>
            </a:pPr>
            <a:r>
              <a:rPr sz="1800" b="0">
                <a:solidFill>
                  <a:srgbClr val="E5E7EB"/>
                </a:solidFill>
                <a:latin typeface="Segoe UI"/>
              </a:rPr>
              <a:t>• PageViews manquantes ? Le snippet doit se charger avant les autres scripts</a:t>
            </a:r>
          </a:p>
          <a:p>
            <a:pPr>
              <a:defRPr sz="1800" b="0">
                <a:solidFill>
                  <a:srgbClr val="E5E7EB"/>
                </a:solidFill>
                <a:latin typeface="Segoe UI"/>
              </a:defRPr>
            </a:pPr>
            <a:r>
              <a:rPr sz="1800" b="0">
                <a:solidFill>
                  <a:srgbClr val="E5E7EB"/>
                </a:solidFill>
                <a:latin typeface="Segoe UI"/>
              </a:rPr>
              <a:t>• Dépendances SQL manquantes ? EF Core a besoin du SDK AI — le paquet seul ne suffit pas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Démantèlement</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azd down --purge --force</a:t>
            </a:r>
          </a:p>
          <a:p>
            <a:pPr>
              <a:defRPr sz="1800" b="0">
                <a:solidFill>
                  <a:srgbClr val="E5E7EB"/>
                </a:solidFill>
                <a:latin typeface="Segoe UI"/>
              </a:defRPr>
            </a:pPr>
            <a:r>
              <a:rPr sz="1800" b="0">
                <a:solidFill>
                  <a:srgbClr val="E5E7EB"/>
                </a:solidFill>
                <a:latin typeface="Segoe UI"/>
              </a:rPr>
              <a:t>• --purge retire les Key Vault et ressources AI supprimés en douceur</a:t>
            </a:r>
          </a:p>
          <a:p>
            <a:pPr>
              <a:defRPr sz="1800" b="0">
                <a:solidFill>
                  <a:srgbClr val="E5E7EB"/>
                </a:solidFill>
                <a:latin typeface="Segoe UI"/>
              </a:defRPr>
            </a:pPr>
            <a:r>
              <a:rPr sz="1800" b="0">
                <a:solidFill>
                  <a:srgbClr val="E5E7EB"/>
                </a:solidFill>
                <a:latin typeface="Segoe UI"/>
              </a:rPr>
              <a:t>• --force saute la confirmation interactive</a:t>
            </a:r>
          </a:p>
          <a:p>
            <a:pPr>
              <a:defRPr sz="1800" b="0">
                <a:solidFill>
                  <a:srgbClr val="E5E7EB"/>
                </a:solidFill>
                <a:latin typeface="Segoe UI"/>
              </a:defRPr>
            </a:pPr>
            <a:r>
              <a:rPr sz="1800" b="0">
                <a:solidFill>
                  <a:srgbClr val="E5E7EB"/>
                </a:solidFill>
                <a:latin typeface="Segoe UI"/>
              </a:rPr>
              <a:t>• Vérifier que le groupe de ressources a disparu dans le portail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Prochaines étapes et votre plan de compétences</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Choisir une vraie app et exécuter l'agent de modernisation .NET Copilot</a:t>
            </a:r>
          </a:p>
          <a:p>
            <a:pPr>
              <a:defRPr sz="1800" b="0">
                <a:solidFill>
                  <a:srgbClr val="E5E7EB"/>
                </a:solidFill>
                <a:latin typeface="Segoe UI"/>
              </a:defRPr>
            </a:pPr>
            <a:r>
              <a:rPr sz="1800" b="0">
                <a:solidFill>
                  <a:srgbClr val="E5E7EB"/>
                </a:solidFill>
                <a:latin typeface="Segoe UI"/>
              </a:rPr>
              <a:t>• Monter App Service + App Insights avec azd dans votre propre abonnement</a:t>
            </a:r>
          </a:p>
          <a:p>
            <a:pPr>
              <a:defRPr sz="1800" b="0">
                <a:solidFill>
                  <a:srgbClr val="E5E7EB"/>
                </a:solidFill>
                <a:latin typeface="Segoe UI"/>
              </a:defRPr>
            </a:pPr>
            <a:r>
              <a:rPr sz="1800" b="0">
                <a:solidFill>
                  <a:srgbClr val="E5E7EB"/>
                </a:solidFill>
                <a:latin typeface="Segoe UI"/>
              </a:rPr>
              <a:t>• Rédiger votre plan de compétences par persona du Module 0</a:t>
            </a:r>
          </a:p>
          <a:p>
            <a:pPr>
              <a:defRPr sz="1800" b="0">
                <a:solidFill>
                  <a:srgbClr val="E5E7EB"/>
                </a:solidFill>
                <a:latin typeface="Segoe UI"/>
              </a:defRPr>
            </a:pPr>
            <a:r>
              <a:rPr sz="1800" b="0">
                <a:solidFill>
                  <a:srgbClr val="E5E7EB"/>
                </a:solidFill>
                <a:latin typeface="Segoe UI"/>
              </a:rPr>
              <a:t>• Lancer un sprint Défi Cloud avec votre équipe</a:t>
            </a:r>
          </a:p>
          <a:p>
            <a:pPr>
              <a:defRPr sz="1800" b="0">
                <a:solidFill>
                  <a:srgbClr val="E5E7EB"/>
                </a:solidFill>
                <a:latin typeface="Segoe UI"/>
              </a:defRPr>
            </a:pPr>
            <a:r>
              <a:rPr sz="1800" b="0">
                <a:solidFill>
                  <a:srgbClr val="E5E7EB"/>
                </a:solidFill>
                <a:latin typeface="Segoe UI"/>
              </a:rPr>
              <a:t>• Adopter le développement piloté par l'observabilité par défaut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Références</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learn.microsoft.com/azure/app-service/</a:t>
            </a:r>
          </a:p>
          <a:p>
            <a:pPr>
              <a:defRPr sz="1800" b="0">
                <a:solidFill>
                  <a:srgbClr val="E5E7EB"/>
                </a:solidFill>
                <a:latin typeface="Segoe UI"/>
              </a:defRPr>
            </a:pPr>
            <a:r>
              <a:rPr sz="1800" b="0">
                <a:solidFill>
                  <a:srgbClr val="E5E7EB"/>
                </a:solidFill>
                <a:latin typeface="Segoe UI"/>
              </a:rPr>
              <a:t>• learn.microsoft.com/azure/azure-monitor/app/app-insights-overview</a:t>
            </a:r>
          </a:p>
          <a:p>
            <a:pPr>
              <a:defRPr sz="1800" b="0">
                <a:solidFill>
                  <a:srgbClr val="E5E7EB"/>
                </a:solidFill>
                <a:latin typeface="Segoe UI"/>
              </a:defRPr>
            </a:pPr>
            <a:r>
              <a:rPr sz="1800" b="0">
                <a:solidFill>
                  <a:srgbClr val="E5E7EB"/>
                </a:solidFill>
                <a:latin typeface="Segoe UI"/>
              </a:rPr>
              <a:t>• learn.microsoft.com/dotnet/core/porting/ (mise à niveau et modernisation)</a:t>
            </a:r>
          </a:p>
          <a:p>
            <a:pPr>
              <a:defRPr sz="1800" b="0">
                <a:solidFill>
                  <a:srgbClr val="E5E7EB"/>
                </a:solidFill>
                <a:latin typeface="Segoe UI"/>
              </a:defRPr>
            </a:pPr>
            <a:r>
              <a:rPr sz="1800" b="0">
                <a:solidFill>
                  <a:srgbClr val="E5E7EB"/>
                </a:solidFill>
                <a:latin typeface="Segoe UI"/>
              </a:rPr>
              <a:t>• github.com/Azure/azure-dev (azd)</a:t>
            </a:r>
          </a:p>
          <a:p>
            <a:pPr>
              <a:defRPr sz="1800" b="0">
                <a:solidFill>
                  <a:srgbClr val="E5E7EB"/>
                </a:solidFill>
                <a:latin typeface="Segoe UI"/>
              </a:defRPr>
            </a:pPr>
            <a:r>
              <a:rPr sz="1800" b="0">
                <a:solidFill>
                  <a:srgbClr val="E5E7EB"/>
                </a:solidFill>
                <a:latin typeface="Segoe UI"/>
              </a:rPr>
              <a:t>• GitHub Copilot app modernization pour .NET — Marketplace VS Code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064240" cy="914400"/>
          </a:xfrm>
          <a:prstGeom prst="rect">
            <a:avLst/>
          </a:prstGeom>
          <a:noFill/>
        </p:spPr>
        <p:txBody>
          <a:bodyPr wrap="square">
            <a:spAutoFit/>
          </a:bodyPr>
          <a:lstStyle/>
          <a:p>
            <a:pPr>
              <a:defRPr sz="3200" b="1">
                <a:solidFill>
                  <a:srgbClr val="E5E7EB"/>
                </a:solidFill>
                <a:latin typeface="Segoe UI"/>
              </a:defRPr>
            </a:pPr>
            <a:r>
              <a:rPr sz="3200" b="1">
                <a:solidFill>
                  <a:srgbClr val="E5E7EB"/>
                </a:solidFill>
                <a:latin typeface="Segoe UI"/>
              </a:rPr>
              <a:t>Thank you · Merci</a:t>
            </a:r>
          </a:p>
        </p:txBody>
      </p:sp>
      <p:sp>
        <p:nvSpPr>
          <p:cNvPr id="4" name="TextBox 3"/>
          <p:cNvSpPr txBox="1"/>
          <p:nvPr/>
        </p:nvSpPr>
        <p:spPr>
          <a:xfrm>
            <a:off x="548640" y="1554480"/>
            <a:ext cx="11064240" cy="4572000"/>
          </a:xfrm>
          <a:prstGeom prst="rect">
            <a:avLst/>
          </a:prstGeom>
          <a:noFill/>
        </p:spPr>
        <p:txBody>
          <a:bodyPr wrap="square">
            <a:spAutoFit/>
          </a:bodyPr>
          <a:lstStyle/>
          <a:p>
            <a:pPr>
              <a:defRPr sz="1800" b="0">
                <a:solidFill>
                  <a:srgbClr val="E5E7EB"/>
                </a:solidFill>
                <a:latin typeface="Segoe UI"/>
              </a:defRPr>
            </a:pPr>
            <a:r>
              <a:rPr sz="1800" b="0">
                <a:solidFill>
                  <a:srgbClr val="E5E7EB"/>
                </a:solidFill>
                <a:latin typeface="Segoe UI"/>
              </a:rPr>
              <a:t>• Diapositives, ateliers et wiki : ce dépôt</a:t>
            </a:r>
          </a:p>
          <a:p>
            <a:pPr>
              <a:defRPr sz="1800" b="0">
                <a:solidFill>
                  <a:srgbClr val="E5E7EB"/>
                </a:solidFill>
                <a:latin typeface="Segoe UI"/>
              </a:defRPr>
            </a:pPr>
            <a:r>
              <a:rPr sz="1800" b="0">
                <a:solidFill>
                  <a:srgbClr val="E5E7EB"/>
                </a:solidFill>
                <a:latin typeface="Segoe UI"/>
              </a:rPr>
              <a:t>• Présentations bilingues : docs/decks/ (FR et EN)</a:t>
            </a:r>
          </a:p>
          <a:p>
            <a:pPr>
              <a:defRPr sz="1800" b="0">
                <a:solidFill>
                  <a:srgbClr val="E5E7EB"/>
                </a:solidFill>
                <a:latin typeface="Segoe UI"/>
              </a:defRPr>
            </a:pPr>
            <a:r>
              <a:rPr sz="1800" b="0">
                <a:solidFill>
                  <a:srgbClr val="E5E7EB"/>
                </a:solidFill>
                <a:latin typeface="Segoe UI"/>
              </a:rPr>
              <a:t>• Raccourci de surveillance : scripts/open-monitoring-dashboard.ps1</a:t>
            </a:r>
          </a:p>
          <a:p>
            <a:pPr>
              <a:defRPr sz="1800" b="0">
                <a:solidFill>
                  <a:srgbClr val="E5E7EB"/>
                </a:solidFill>
                <a:latin typeface="Segoe UI"/>
              </a:defRPr>
            </a:pPr>
            <a:r>
              <a:rPr sz="1800" b="0">
                <a:solidFill>
                  <a:srgbClr val="E5E7EB"/>
                </a:solidFill>
                <a:latin typeface="Segoe UI"/>
              </a:rPr>
              <a:t>• Happy modernizing! · Bonne modernisation!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5</TotalTime>
  <Words>4807</Words>
  <Application>Microsoft Office PowerPoint</Application>
  <PresentationFormat>Widescreen</PresentationFormat>
  <Paragraphs>347</Paragraphs>
  <Slides>56</Slides>
  <Notes>55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Aptos</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Emmanuel Knafo</cp:lastModifiedBy>
  <cp:revision>2</cp:revision>
  <dcterms:created xsi:type="dcterms:W3CDTF">2013-01-27T09:14:16Z</dcterms:created>
  <dcterms:modified xsi:type="dcterms:W3CDTF">2026-06-02T12:50:40Z</dcterms:modified>
  <cp:category/>
</cp:coreProperties>
</file>